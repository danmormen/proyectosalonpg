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F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474720"/>
          </a:xfrm>
          <a:prstGeom prst="rect">
            <a:avLst/>
          </a:prstGeom>
          <a:solidFill>
            <a:srgbClr val="8C4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337560"/>
            <a:ext cx="12188952" cy="164592"/>
          </a:xfrm>
          <a:prstGeom prst="rect">
            <a:avLst/>
          </a:prstGeom>
          <a:solidFill>
            <a:srgbClr val="D8A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Georgia"/>
              </a:rPr>
              <a:t>PonteGuapa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F0D5DA"/>
                </a:solidFill>
                <a:latin typeface="Calibri"/>
              </a:rPr>
              <a:t>Salón de Belleza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D8A7B1"/>
                </a:solidFill>
                <a:latin typeface="Calibri"/>
              </a:rPr>
              <a:t>Manual Técnico del 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14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8A7B1"/>
                </a:solidFill>
                <a:latin typeface="Calibri"/>
              </a:rPr>
              <a:t>Angular 18  ·  SPA con Navegación Condicional  ·  HttpClient  ·  localStorage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49039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D8A7B1"/>
                </a:solidFill>
                <a:latin typeface="Calibri"/>
              </a:rPr>
              <a:t>Estructura de pantallas, lógica de componentes, flujos de autenticación y tabla de endpoints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B6F75"/>
                </a:solidFill>
                <a:latin typeface="Calibri"/>
              </a:rPr>
              <a:t>Versión 1.0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B76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Arquitectura de Navegación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828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F0D5DA"/>
                </a:solidFill>
                <a:latin typeface="Calibri"/>
              </a:rPr>
              <a:t>Cómo funciona la navegación sin Angular Router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2743200" cy="1463040"/>
          </a:xfrm>
          <a:prstGeom prst="rect">
            <a:avLst/>
          </a:prstGeom>
          <a:solidFill>
            <a:srgbClr val="D8A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2F2A2A"/>
                </a:solidFill>
                <a:latin typeface="Calibri"/>
              </a:rPr>
              <a:t>Componente hijo
(login, home, reservar…)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1005840"/>
            <a:ext cx="2560320" cy="146304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325880"/>
            <a:ext cx="23774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7A6000"/>
                </a:solidFill>
                <a:latin typeface="Calibri"/>
              </a:rPr>
              <a:t>Emite @Output
navigate("vista")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005840"/>
            <a:ext cx="2560320" cy="1463040"/>
          </a:xfrm>
          <a:prstGeom prst="rect">
            <a:avLst/>
          </a:prstGeom>
          <a:solidFill>
            <a:srgbClr val="CC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325880"/>
            <a:ext cx="23774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0D478A"/>
                </a:solidFill>
                <a:latin typeface="Calibri"/>
              </a:rPr>
              <a:t>app.ts
vistaActual = "vista"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35440" y="1005840"/>
            <a:ext cx="2560320" cy="1463040"/>
          </a:xfrm>
          <a:prstGeom prst="rect">
            <a:avLst/>
          </a:prstGeom>
          <a:solidFill>
            <a:srgbClr val="D5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0" y="1325880"/>
            <a:ext cx="23774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45A32"/>
                </a:solidFill>
                <a:latin typeface="Calibri"/>
              </a:rPr>
              <a:t>Template *ngIf
muestra el componente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15087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B76E79"/>
                </a:solidFill>
                <a:latin typeface="Calibri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5087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B76E79"/>
                </a:solidFill>
                <a:latin typeface="Calibri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15087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B76E79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743200"/>
            <a:ext cx="11338560" cy="36576"/>
          </a:xfrm>
          <a:prstGeom prst="rect">
            <a:avLst/>
          </a:prstGeom>
          <a:solidFill>
            <a:srgbClr val="D8A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926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C4755"/>
                </a:solidFill>
                <a:latin typeface="Calibri"/>
              </a:rPr>
              <a:t>Puntos clave de esta arquitectura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383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F2A2A"/>
                </a:solidFill>
                <a:latin typeface="Calibri"/>
              </a:rPr>
              <a:t>• No hay URLs distintas por pantalla — el navegador siempre muestra la misma URL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794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F2A2A"/>
                </a:solidFill>
                <a:latin typeface="Calibri"/>
              </a:rPr>
              <a:t>• No hay historial del navegador — el botón Atrás no funciona como en sitios con rutas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F2A2A"/>
                </a:solidFill>
                <a:latin typeface="Calibri"/>
              </a:rPr>
              <a:t>• app.ts es el cerebro: guarda la vista actual y los datos que se pasan entre pantallas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617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F2A2A"/>
                </a:solidFill>
                <a:latin typeface="Calibri"/>
              </a:rPr>
              <a:t>• Para pasar datos (ej. servicio preseleccionado), app.ts los guarda como propiedad y los envía como @Input al siguiente componente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F2A2A"/>
                </a:solidFill>
                <a:latin typeface="Calibri"/>
              </a:rPr>
              <a:t>• El archivo app.routes.ts existe pero está vacío — no cumple ninguna función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FD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B6F75"/>
                </a:solidFill>
                <a:latin typeface="Calibri"/>
              </a:rPr>
              <a:t>PonteGuapa — Manual Técnico Frontend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B6F75"/>
                </a:solidFill>
                <a:latin typeface="Calibri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B76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Pantallas por 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3749039" cy="384048"/>
          </a:xfrm>
          <a:prstGeom prst="rect">
            <a:avLst/>
          </a:prstGeom>
          <a:solidFill>
            <a:srgbClr val="B76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87552"/>
            <a:ext cx="35661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👤 CLIENTE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44168"/>
            <a:ext cx="3749039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371600"/>
            <a:ext cx="35661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F2A2A"/>
                </a:solidFill>
                <a:latin typeface="Calibri"/>
              </a:rPr>
              <a:t>home — Dashboard de inicio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892807"/>
            <a:ext cx="3749039" cy="512064"/>
          </a:xfrm>
          <a:prstGeom prst="rect">
            <a:avLst/>
          </a:prstGeom>
          <a:solidFill>
            <a:srgbClr val="F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920240"/>
            <a:ext cx="35661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F2A2A"/>
                </a:solidFill>
                <a:latin typeface="Calibri"/>
              </a:rPr>
              <a:t>perfil — Datos personales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441448"/>
            <a:ext cx="3749039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2468880"/>
            <a:ext cx="35661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F2A2A"/>
                </a:solidFill>
                <a:latin typeface="Calibri"/>
              </a:rPr>
              <a:t>servicios — Catálogo de servicios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990087"/>
            <a:ext cx="3749039" cy="512064"/>
          </a:xfrm>
          <a:prstGeom prst="rect">
            <a:avLst/>
          </a:prstGeom>
          <a:solidFill>
            <a:srgbClr val="F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3017520"/>
            <a:ext cx="35661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F2A2A"/>
                </a:solidFill>
                <a:latin typeface="Calibri"/>
              </a:rPr>
              <a:t>reservar — Agendar cita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538728"/>
            <a:ext cx="3749039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3566160"/>
            <a:ext cx="35661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F2A2A"/>
                </a:solidFill>
                <a:latin typeface="Calibri"/>
              </a:rPr>
              <a:t>ver-cita — Mis citas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087368"/>
            <a:ext cx="3749039" cy="512064"/>
          </a:xfrm>
          <a:prstGeom prst="rect">
            <a:avLst/>
          </a:prstGeom>
          <a:solidFill>
            <a:srgbClr val="F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4114800"/>
            <a:ext cx="35661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F2A2A"/>
                </a:solidFill>
                <a:latin typeface="Calibri"/>
              </a:rPr>
              <a:t>promociones — Ofertas activas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636007"/>
            <a:ext cx="3749039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4663440"/>
            <a:ext cx="35661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F2A2A"/>
                </a:solidFill>
                <a:latin typeface="Calibri"/>
              </a:rPr>
              <a:t>recompensas — Programa de puntos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184648"/>
            <a:ext cx="3749039" cy="512064"/>
          </a:xfrm>
          <a:prstGeom prst="rect">
            <a:avLst/>
          </a:prstGeom>
          <a:solidFill>
            <a:srgbClr val="F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5212080"/>
            <a:ext cx="35661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F2A2A"/>
                </a:solidFill>
                <a:latin typeface="Calibri"/>
              </a:rPr>
              <a:t>resenas — Calificar servicios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60520" y="960120"/>
            <a:ext cx="3749039" cy="384048"/>
          </a:xfrm>
          <a:prstGeom prst="rect">
            <a:avLst/>
          </a:prstGeom>
          <a:solidFill>
            <a:srgbClr val="69A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51959" y="987552"/>
            <a:ext cx="35661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✂ ESTILISTA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60520" y="1344168"/>
            <a:ext cx="3749039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70248" y="1371600"/>
            <a:ext cx="35661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F2A2A"/>
                </a:solidFill>
                <a:latin typeface="Calibri"/>
              </a:rPr>
              <a:t>pantalla-estilista — Dashboard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60520" y="1892807"/>
            <a:ext cx="3749039" cy="512064"/>
          </a:xfrm>
          <a:prstGeom prst="rect">
            <a:avLst/>
          </a:prstGeom>
          <a:solidFill>
            <a:srgbClr val="F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70248" y="1920240"/>
            <a:ext cx="35661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F2A2A"/>
                </a:solidFill>
                <a:latin typeface="Calibri"/>
              </a:rPr>
              <a:t>citas-estilista — Agenda diaria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60520" y="2441448"/>
            <a:ext cx="3749039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70248" y="2468880"/>
            <a:ext cx="35661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F2A2A"/>
                </a:solidFill>
                <a:latin typeface="Calibri"/>
              </a:rPr>
              <a:t>detalle-citas — Detalle del día *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60520" y="2990087"/>
            <a:ext cx="3749039" cy="512064"/>
          </a:xfrm>
          <a:prstGeom prst="rect">
            <a:avLst/>
          </a:prstGeom>
          <a:solidFill>
            <a:srgbClr val="F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70248" y="3017520"/>
            <a:ext cx="35661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F2A2A"/>
                </a:solidFill>
                <a:latin typeface="Calibri"/>
              </a:rPr>
              <a:t>horario-estilista — Mi horario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60520" y="3538728"/>
            <a:ext cx="3749039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70248" y="3566160"/>
            <a:ext cx="35661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F2A2A"/>
                </a:solidFill>
                <a:latin typeface="Calibri"/>
              </a:rPr>
              <a:t>perfil-estilista — Mi perfil *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60520" y="4087368"/>
            <a:ext cx="3749039" cy="512064"/>
          </a:xfrm>
          <a:prstGeom prst="rect">
            <a:avLst/>
          </a:prstGeom>
          <a:solidFill>
            <a:srgbClr val="F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70248" y="4114800"/>
            <a:ext cx="35661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F2A2A"/>
                </a:solidFill>
                <a:latin typeface="Calibri"/>
              </a:rPr>
              <a:t>resenas-estilista — Mis reseñas *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60520" y="4636007"/>
            <a:ext cx="3749039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70248" y="4663440"/>
            <a:ext cx="35661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F2A2A"/>
                </a:solidFill>
                <a:latin typeface="Calibri"/>
              </a:rPr>
              <a:t>notificacion-estilista — Notif.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46720" y="960120"/>
            <a:ext cx="3749039" cy="384048"/>
          </a:xfrm>
          <a:prstGeom prst="rect">
            <a:avLst/>
          </a:prstGeom>
          <a:solidFill>
            <a:srgbClr val="5C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38160" y="987552"/>
            <a:ext cx="35661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🛠 ADMINISTRADOR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46720" y="1344168"/>
            <a:ext cx="3749039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56448" y="1371600"/>
            <a:ext cx="35661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F2A2A"/>
                </a:solidFill>
                <a:latin typeface="Calibri"/>
              </a:rPr>
              <a:t>pantalla-administrador — Dashboard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46720" y="1892807"/>
            <a:ext cx="3749039" cy="512064"/>
          </a:xfrm>
          <a:prstGeom prst="rect">
            <a:avLst/>
          </a:prstGeom>
          <a:solidFill>
            <a:srgbClr val="F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56448" y="1920240"/>
            <a:ext cx="35661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F2A2A"/>
                </a:solidFill>
                <a:latin typeface="Calibri"/>
              </a:rPr>
              <a:t>empleados-admin — Gestión personal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46720" y="2441448"/>
            <a:ext cx="3749039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56448" y="2468880"/>
            <a:ext cx="35661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F2A2A"/>
                </a:solidFill>
                <a:latin typeface="Calibri"/>
              </a:rPr>
              <a:t>servicios-admin — Catálogo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46720" y="2990087"/>
            <a:ext cx="3749039" cy="512064"/>
          </a:xfrm>
          <a:prstGeom prst="rect">
            <a:avLst/>
          </a:prstGeom>
          <a:solidFill>
            <a:srgbClr val="F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56448" y="3017520"/>
            <a:ext cx="35661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F2A2A"/>
                </a:solidFill>
                <a:latin typeface="Calibri"/>
              </a:rPr>
              <a:t>gestion-citas-admin — Todas las citas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46720" y="3538728"/>
            <a:ext cx="3749039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56448" y="3566160"/>
            <a:ext cx="35661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F2A2A"/>
                </a:solidFill>
                <a:latin typeface="Calibri"/>
              </a:rPr>
              <a:t>promociones-admin — Promociones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46720" y="4087368"/>
            <a:ext cx="3749039" cy="512064"/>
          </a:xfrm>
          <a:prstGeom prst="rect">
            <a:avLst/>
          </a:prstGeom>
          <a:solidFill>
            <a:srgbClr val="F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56448" y="4114800"/>
            <a:ext cx="35661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F2A2A"/>
                </a:solidFill>
                <a:latin typeface="Calibri"/>
              </a:rPr>
              <a:t>recompensa-admin — Recompensas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46720" y="4636007"/>
            <a:ext cx="3749039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56448" y="4663440"/>
            <a:ext cx="35661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F2A2A"/>
                </a:solidFill>
                <a:latin typeface="Calibri"/>
              </a:rPr>
              <a:t>notificaciones-admin — Emails masivos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046720" y="5184648"/>
            <a:ext cx="3749039" cy="512064"/>
          </a:xfrm>
          <a:prstGeom prst="rect">
            <a:avLst/>
          </a:prstGeom>
          <a:solidFill>
            <a:srgbClr val="F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156448" y="5212080"/>
            <a:ext cx="35661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F2A2A"/>
                </a:solidFill>
                <a:latin typeface="Calibri"/>
              </a:rPr>
              <a:t>reportes-admin — Analítica *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" y="61722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B6F75"/>
                </a:solidFill>
                <a:latin typeface="Calibri"/>
              </a:rPr>
              <a:t>* Componente con datos mock — pendiente de conectar al backend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FD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43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B6F75"/>
                </a:solidFill>
                <a:latin typeface="Calibri"/>
              </a:rPr>
              <a:t>PonteGuapa — Manual Técnico Frontend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B6F75"/>
                </a:solidFill>
                <a:latin typeface="Calibri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B76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Flujo de Autenticación y Sesión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2286000" cy="1188720"/>
          </a:xfrm>
          <a:prstGeom prst="rect">
            <a:avLst/>
          </a:prstGeom>
          <a:solidFill>
            <a:srgbClr val="D8A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8C4755"/>
                </a:solidFill>
                <a:latin typeface="Calibri"/>
              </a:rPr>
              <a:t>1. Login
POST /auth/login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1005840"/>
            <a:ext cx="2286000" cy="1188720"/>
          </a:xfrm>
          <a:prstGeom prst="rect">
            <a:avLst/>
          </a:prstGeom>
          <a:solidFill>
            <a:srgbClr val="CC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0" y="11887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0D478A"/>
                </a:solidFill>
                <a:latin typeface="Calibri"/>
              </a:rPr>
              <a:t>2. localStorage
guarda token
y usuario</a:t>
            </a:r>
          </a:p>
        </p:txBody>
      </p:sp>
      <p:sp>
        <p:nvSpPr>
          <p:cNvPr id="8" name="Rectangle 7"/>
          <p:cNvSpPr/>
          <p:nvPr/>
        </p:nvSpPr>
        <p:spPr>
          <a:xfrm>
            <a:off x="5577840" y="1005840"/>
            <a:ext cx="2286000" cy="118872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79" y="11887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7A6000"/>
                </a:solidFill>
                <a:latin typeface="Calibri"/>
              </a:rPr>
              <a:t>3. Verifica
requiere_cambio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005840"/>
            <a:ext cx="2286000" cy="1188720"/>
          </a:xfrm>
          <a:prstGeom prst="rect">
            <a:avLst/>
          </a:prstGeom>
          <a:solidFill>
            <a:srgbClr val="D5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1887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45A32"/>
                </a:solidFill>
                <a:latin typeface="Calibri"/>
              </a:rPr>
              <a:t>4. Navega según
rol del usuario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14173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76E79"/>
                </a:solidFill>
                <a:latin typeface="Calibr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14173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76E79"/>
                </a:solidFill>
                <a:latin typeface="Calibri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14173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76E79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514600"/>
            <a:ext cx="11338560" cy="36576"/>
          </a:xfrm>
          <a:prstGeom prst="rect">
            <a:avLst/>
          </a:prstGeom>
          <a:solidFill>
            <a:srgbClr val="D8A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2651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C4755"/>
                </a:solidFill>
                <a:latin typeface="Calibri"/>
              </a:rPr>
              <a:t>Destino según rol y estado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108960"/>
            <a:ext cx="11338560" cy="438912"/>
          </a:xfrm>
          <a:prstGeom prst="rect">
            <a:avLst/>
          </a:prstGeom>
          <a:solidFill>
            <a:srgbClr val="F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1363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B47A00"/>
                </a:solidFill>
                <a:latin typeface="Calibri"/>
              </a:rPr>
              <a:t>requiere_cambio = 1  →  cambio-password  (cualquier rol)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611880"/>
            <a:ext cx="1133856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63931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8C4755"/>
                </a:solidFill>
                <a:latin typeface="Calibri"/>
              </a:rPr>
              <a:t>rol = admin           →  pantalla-administrador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114800"/>
            <a:ext cx="11338560" cy="438912"/>
          </a:xfrm>
          <a:prstGeom prst="rect">
            <a:avLst/>
          </a:prstGeom>
          <a:solidFill>
            <a:srgbClr val="F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14223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69A297"/>
                </a:solidFill>
                <a:latin typeface="Calibri"/>
              </a:rPr>
              <a:t>rol = estilista        →  pantalla-estilista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617720"/>
            <a:ext cx="1133856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64515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89056"/>
                </a:solidFill>
                <a:latin typeface="Calibri"/>
              </a:rPr>
              <a:t>rol = cliente          →  home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166360"/>
            <a:ext cx="11338560" cy="36576"/>
          </a:xfrm>
          <a:prstGeom prst="rect">
            <a:avLst/>
          </a:prstGeom>
          <a:solidFill>
            <a:srgbClr val="D8A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53035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C4755"/>
                </a:solidFill>
                <a:latin typeface="Calibri"/>
              </a:rPr>
              <a:t>Recuperación de contraseña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56692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F2A2A"/>
                </a:solidFill>
                <a:latin typeface="Calibri"/>
              </a:rPr>
              <a:t>POST /auth/recuperar-password  →  Backend genera PonteGuapa#1234 y lo envía al correo  →  Login con clave temporal  →  requiere_cambio=1  →  Pantalla cambio obligatorio  →  PATCH /usuarios/:id/cambiar-password  →  requiere_cambio=0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FD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B6F75"/>
                </a:solidFill>
                <a:latin typeface="Calibri"/>
              </a:rPr>
              <a:t>PonteGuapa — Manual Técnico Frontend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B6F75"/>
                </a:solidFill>
                <a:latin typeface="Calibri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B76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Módulo Cliente — Endpoints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594360" cy="246888"/>
          </a:xfrm>
          <a:prstGeom prst="rect">
            <a:avLst/>
          </a:prstGeom>
          <a:solidFill>
            <a:srgbClr val="B76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2336" y="987552"/>
            <a:ext cx="52120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Método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960120"/>
            <a:ext cx="3840480" cy="246888"/>
          </a:xfrm>
          <a:prstGeom prst="rect">
            <a:avLst/>
          </a:prstGeom>
          <a:solidFill>
            <a:srgbClr val="B76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987552"/>
            <a:ext cx="376732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Endpoint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800600" y="960120"/>
            <a:ext cx="6903720" cy="246888"/>
          </a:xfrm>
          <a:prstGeom prst="rect">
            <a:avLst/>
          </a:prstGeom>
          <a:solidFill>
            <a:srgbClr val="B76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37176" y="987552"/>
            <a:ext cx="683056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Componente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207008"/>
            <a:ext cx="594360" cy="246888"/>
          </a:xfrm>
          <a:prstGeom prst="rect">
            <a:avLst/>
          </a:prstGeom>
          <a:solidFill>
            <a:srgbClr val="D5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" y="1234440"/>
            <a:ext cx="52120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F2A2A"/>
                </a:solidFill>
                <a:latin typeface="Calibri"/>
              </a:rPr>
              <a:t>GET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1207008"/>
            <a:ext cx="384048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4984" y="1234440"/>
            <a:ext cx="37490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76BC4"/>
                </a:solidFill>
                <a:latin typeface="Calibri"/>
              </a:rPr>
              <a:t>/api/citas/mis-citas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00600" y="1207008"/>
            <a:ext cx="690372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55464" y="1234440"/>
            <a:ext cx="6812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F2A2A"/>
                </a:solidFill>
                <a:latin typeface="Calibri"/>
              </a:rPr>
              <a:t>home.ts, ver-cita.ts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1453896"/>
            <a:ext cx="594360" cy="246888"/>
          </a:xfrm>
          <a:prstGeom prst="rect">
            <a:avLst/>
          </a:prstGeom>
          <a:solidFill>
            <a:srgbClr val="D5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2336" y="1481328"/>
            <a:ext cx="52120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F2A2A"/>
                </a:solidFill>
                <a:latin typeface="Calibri"/>
              </a:rPr>
              <a:t>GET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" y="1453896"/>
            <a:ext cx="3840480" cy="246888"/>
          </a:xfrm>
          <a:prstGeom prst="rect">
            <a:avLst/>
          </a:prstGeom>
          <a:solidFill>
            <a:srgbClr val="F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4984" y="1481328"/>
            <a:ext cx="37490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76BC4"/>
                </a:solidFill>
                <a:latin typeface="Calibri"/>
              </a:rPr>
              <a:t>/api/citas/estilistas-disponibles?fecha=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00600" y="1453896"/>
            <a:ext cx="6903720" cy="246888"/>
          </a:xfrm>
          <a:prstGeom prst="rect">
            <a:avLst/>
          </a:prstGeom>
          <a:solidFill>
            <a:srgbClr val="F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55464" y="1481328"/>
            <a:ext cx="6812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F2A2A"/>
                </a:solidFill>
                <a:latin typeface="Calibri"/>
              </a:rPr>
              <a:t>reservar.ts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1700784"/>
            <a:ext cx="594360" cy="246888"/>
          </a:xfrm>
          <a:prstGeom prst="rect">
            <a:avLst/>
          </a:prstGeom>
          <a:solidFill>
            <a:srgbClr val="D5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2336" y="1728216"/>
            <a:ext cx="52120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F2A2A"/>
                </a:solidFill>
                <a:latin typeface="Calibri"/>
              </a:rPr>
              <a:t>GET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0120" y="1700784"/>
            <a:ext cx="384048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4984" y="1728216"/>
            <a:ext cx="37490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76BC4"/>
                </a:solidFill>
                <a:latin typeface="Calibri"/>
              </a:rPr>
              <a:t>/api/servicios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00600" y="1700784"/>
            <a:ext cx="690372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55464" y="1728216"/>
            <a:ext cx="6812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F2A2A"/>
                </a:solidFill>
                <a:latin typeface="Calibri"/>
              </a:rPr>
              <a:t>servicios.ts, reservar.ts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1947672"/>
            <a:ext cx="594360" cy="246888"/>
          </a:xfrm>
          <a:prstGeom prst="rect">
            <a:avLst/>
          </a:prstGeom>
          <a:solidFill>
            <a:srgbClr val="D5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2336" y="1975103"/>
            <a:ext cx="52120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F2A2A"/>
                </a:solidFill>
                <a:latin typeface="Calibri"/>
              </a:rPr>
              <a:t>GET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0120" y="1947672"/>
            <a:ext cx="3840480" cy="246888"/>
          </a:xfrm>
          <a:prstGeom prst="rect">
            <a:avLst/>
          </a:prstGeom>
          <a:solidFill>
            <a:srgbClr val="F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4984" y="1975103"/>
            <a:ext cx="37490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76BC4"/>
                </a:solidFill>
                <a:latin typeface="Calibri"/>
              </a:rPr>
              <a:t>/api/promociones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00600" y="1947672"/>
            <a:ext cx="6903720" cy="246888"/>
          </a:xfrm>
          <a:prstGeom prst="rect">
            <a:avLst/>
          </a:prstGeom>
          <a:solidFill>
            <a:srgbClr val="F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55464" y="1975103"/>
            <a:ext cx="6812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F2A2A"/>
                </a:solidFill>
                <a:latin typeface="Calibri"/>
              </a:rPr>
              <a:t>promociones.ts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2194560"/>
            <a:ext cx="594360" cy="246888"/>
          </a:xfrm>
          <a:prstGeom prst="rect">
            <a:avLst/>
          </a:prstGeom>
          <a:solidFill>
            <a:srgbClr val="D5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2336" y="2221992"/>
            <a:ext cx="52120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F2A2A"/>
                </a:solidFill>
                <a:latin typeface="Calibri"/>
              </a:rPr>
              <a:t>GET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0120" y="2194560"/>
            <a:ext cx="384048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4984" y="2221992"/>
            <a:ext cx="37490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76BC4"/>
                </a:solidFill>
                <a:latin typeface="Calibri"/>
              </a:rPr>
              <a:t>/api/recompensas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00600" y="2194560"/>
            <a:ext cx="690372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55464" y="2221992"/>
            <a:ext cx="6812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F2A2A"/>
                </a:solidFill>
                <a:latin typeface="Calibri"/>
              </a:rPr>
              <a:t>recompensas.ts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2441448"/>
            <a:ext cx="594360" cy="246888"/>
          </a:xfrm>
          <a:prstGeom prst="rect">
            <a:avLst/>
          </a:prstGeom>
          <a:solidFill>
            <a:srgbClr val="D5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02336" y="2468879"/>
            <a:ext cx="52120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F2A2A"/>
                </a:solidFill>
                <a:latin typeface="Calibri"/>
              </a:rPr>
              <a:t>GET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60120" y="2441448"/>
            <a:ext cx="3840480" cy="246888"/>
          </a:xfrm>
          <a:prstGeom prst="rect">
            <a:avLst/>
          </a:prstGeom>
          <a:solidFill>
            <a:srgbClr val="F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14984" y="2468879"/>
            <a:ext cx="37490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76BC4"/>
                </a:solidFill>
                <a:latin typeface="Calibri"/>
              </a:rPr>
              <a:t>/api/recompensas/mis-puntos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800600" y="2441448"/>
            <a:ext cx="6903720" cy="246888"/>
          </a:xfrm>
          <a:prstGeom prst="rect">
            <a:avLst/>
          </a:prstGeom>
          <a:solidFill>
            <a:srgbClr val="F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55464" y="2468879"/>
            <a:ext cx="6812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F2A2A"/>
                </a:solidFill>
                <a:latin typeface="Calibri"/>
              </a:rPr>
              <a:t>recompensas.ts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2688336"/>
            <a:ext cx="594360" cy="246888"/>
          </a:xfrm>
          <a:prstGeom prst="rect">
            <a:avLst/>
          </a:prstGeom>
          <a:solidFill>
            <a:srgbClr val="D5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02336" y="2715768"/>
            <a:ext cx="52120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F2A2A"/>
                </a:solidFill>
                <a:latin typeface="Calibri"/>
              </a:rPr>
              <a:t>GET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60120" y="2688336"/>
            <a:ext cx="384048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14984" y="2715768"/>
            <a:ext cx="37490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76BC4"/>
                </a:solidFill>
                <a:latin typeface="Calibri"/>
              </a:rPr>
              <a:t>/api/usuarios/:id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800600" y="2688336"/>
            <a:ext cx="690372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855464" y="2715768"/>
            <a:ext cx="6812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F2A2A"/>
                </a:solidFill>
                <a:latin typeface="Calibri"/>
              </a:rPr>
              <a:t>perfil.ts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2935224"/>
            <a:ext cx="594360" cy="246888"/>
          </a:xfrm>
          <a:prstGeom prst="rect">
            <a:avLst/>
          </a:prstGeom>
          <a:solidFill>
            <a:srgbClr val="CC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02336" y="2962656"/>
            <a:ext cx="52120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F2A2A"/>
                </a:solidFill>
                <a:latin typeface="Calibri"/>
              </a:rPr>
              <a:t>POST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60120" y="2935224"/>
            <a:ext cx="3840480" cy="246888"/>
          </a:xfrm>
          <a:prstGeom prst="rect">
            <a:avLst/>
          </a:prstGeom>
          <a:solidFill>
            <a:srgbClr val="F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14984" y="2962656"/>
            <a:ext cx="37490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76BC4"/>
                </a:solidFill>
                <a:latin typeface="Calibri"/>
              </a:rPr>
              <a:t>/api/citas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800600" y="2935224"/>
            <a:ext cx="6903720" cy="246888"/>
          </a:xfrm>
          <a:prstGeom prst="rect">
            <a:avLst/>
          </a:prstGeom>
          <a:solidFill>
            <a:srgbClr val="F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855464" y="2962656"/>
            <a:ext cx="6812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F2A2A"/>
                </a:solidFill>
                <a:latin typeface="Calibri"/>
              </a:rPr>
              <a:t>reservar.ts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3182112"/>
            <a:ext cx="594360" cy="246888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02336" y="3209544"/>
            <a:ext cx="52120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F2A2A"/>
                </a:solidFill>
                <a:latin typeface="Calibri"/>
              </a:rPr>
              <a:t>PUT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60120" y="3182112"/>
            <a:ext cx="384048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14984" y="3209544"/>
            <a:ext cx="37490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76BC4"/>
                </a:solidFill>
                <a:latin typeface="Calibri"/>
              </a:rPr>
              <a:t>/api/recompensas/admin/puntos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800600" y="3182112"/>
            <a:ext cx="690372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855464" y="3209544"/>
            <a:ext cx="6812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F2A2A"/>
                </a:solidFill>
                <a:latin typeface="Calibri"/>
              </a:rPr>
              <a:t>recompensas.ts — descuenta puntos al canjear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3429000"/>
            <a:ext cx="594360" cy="246888"/>
          </a:xfrm>
          <a:prstGeom prst="rect">
            <a:avLst/>
          </a:prstGeom>
          <a:solidFill>
            <a:srgbClr val="E2D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02336" y="3456432"/>
            <a:ext cx="52120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F2A2A"/>
                </a:solidFill>
                <a:latin typeface="Calibri"/>
              </a:rPr>
              <a:t>PATCH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60120" y="3429000"/>
            <a:ext cx="3840480" cy="246888"/>
          </a:xfrm>
          <a:prstGeom prst="rect">
            <a:avLst/>
          </a:prstGeom>
          <a:solidFill>
            <a:srgbClr val="F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14984" y="3456432"/>
            <a:ext cx="37490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76BC4"/>
                </a:solidFill>
                <a:latin typeface="Calibri"/>
              </a:rPr>
              <a:t>/api/usuarios/:id/perfil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800600" y="3429000"/>
            <a:ext cx="6903720" cy="246888"/>
          </a:xfrm>
          <a:prstGeom prst="rect">
            <a:avLst/>
          </a:prstGeom>
          <a:solidFill>
            <a:srgbClr val="F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855464" y="3456432"/>
            <a:ext cx="6812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F2A2A"/>
                </a:solidFill>
                <a:latin typeface="Calibri"/>
              </a:rPr>
              <a:t>perfil.ts — guarda nombre y teléfono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65760" y="3675888"/>
            <a:ext cx="594360" cy="246888"/>
          </a:xfrm>
          <a:prstGeom prst="rect">
            <a:avLst/>
          </a:prstGeom>
          <a:solidFill>
            <a:srgbClr val="E2D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02336" y="3703320"/>
            <a:ext cx="52120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F2A2A"/>
                </a:solidFill>
                <a:latin typeface="Calibri"/>
              </a:rPr>
              <a:t>PATCH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60120" y="3675888"/>
            <a:ext cx="384048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14984" y="3703320"/>
            <a:ext cx="37490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76BC4"/>
                </a:solidFill>
                <a:latin typeface="Calibri"/>
              </a:rPr>
              <a:t>/api/citas/:id/estado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800600" y="3675888"/>
            <a:ext cx="690372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855464" y="3703320"/>
            <a:ext cx="6812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F2A2A"/>
                </a:solidFill>
                <a:latin typeface="Calibri"/>
              </a:rPr>
              <a:t>ver-cita.ts — confirmar cita pendiente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65760" y="3922776"/>
            <a:ext cx="594360" cy="246888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02336" y="3950208"/>
            <a:ext cx="52120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F2A2A"/>
                </a:solidFill>
                <a:latin typeface="Calibri"/>
              </a:rPr>
              <a:t>DELETE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60120" y="3922776"/>
            <a:ext cx="3840480" cy="246888"/>
          </a:xfrm>
          <a:prstGeom prst="rect">
            <a:avLst/>
          </a:prstGeom>
          <a:solidFill>
            <a:srgbClr val="F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14984" y="3950208"/>
            <a:ext cx="37490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76BC4"/>
                </a:solidFill>
                <a:latin typeface="Calibri"/>
              </a:rPr>
              <a:t>/api/citas/:id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800600" y="3922776"/>
            <a:ext cx="6903720" cy="246888"/>
          </a:xfrm>
          <a:prstGeom prst="rect">
            <a:avLst/>
          </a:prstGeom>
          <a:solidFill>
            <a:srgbClr val="F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855464" y="3950208"/>
            <a:ext cx="6812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F2A2A"/>
                </a:solidFill>
                <a:latin typeface="Calibri"/>
              </a:rPr>
              <a:t>ver-cita.ts — cancela la cita (soft delete)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FD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743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B6F75"/>
                </a:solidFill>
                <a:latin typeface="Calibri"/>
              </a:rPr>
              <a:t>PonteGuapa — Manual Técnico Frontend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B6F75"/>
                </a:solidFill>
                <a:latin typeface="Calibri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B76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Flujo de Reserva de Cita — Cliente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1737360" cy="1828800"/>
          </a:xfrm>
          <a:prstGeom prst="rect">
            <a:avLst/>
          </a:prstGeom>
          <a:solidFill>
            <a:srgbClr val="D8A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C4755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1554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2F2A2A"/>
                </a:solidFill>
                <a:latin typeface="Calibri"/>
              </a:rPr>
              <a:t>Selecciona
servicio</a:t>
            </a:r>
          </a:p>
          <a:p>
            <a:pPr algn="ctr">
              <a:spcAft>
                <a:spcPts val="200"/>
              </a:spcAft>
            </a:pPr>
            <a:r>
              <a:rPr sz="900" b="0">
                <a:solidFill>
                  <a:srgbClr val="9B6F75"/>
                </a:solidFill>
                <a:latin typeface="Calibri"/>
              </a:rPr>
              <a:t>servicios.ts
emite evento</a:t>
            </a:r>
          </a:p>
        </p:txBody>
      </p:sp>
      <p:sp>
        <p:nvSpPr>
          <p:cNvPr id="7" name="Rectangle 6"/>
          <p:cNvSpPr/>
          <p:nvPr/>
        </p:nvSpPr>
        <p:spPr>
          <a:xfrm>
            <a:off x="2231136" y="1005840"/>
            <a:ext cx="1737360" cy="1828800"/>
          </a:xfrm>
          <a:prstGeom prst="rect">
            <a:avLst/>
          </a:prstGeom>
          <a:solidFill>
            <a:srgbClr val="CC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76856" y="10515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C4755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22576" y="1463040"/>
            <a:ext cx="1554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2F2A2A"/>
                </a:solidFill>
                <a:latin typeface="Calibri"/>
              </a:rPr>
              <a:t>Elige fecha
(mes actual
o siguiente)</a:t>
            </a:r>
          </a:p>
          <a:p>
            <a:pPr algn="ctr">
              <a:spcAft>
                <a:spcPts val="200"/>
              </a:spcAft>
            </a:pPr>
            <a:r>
              <a:rPr sz="900" b="0">
                <a:solidFill>
                  <a:srgbClr val="9B6F75"/>
                </a:solidFill>
                <a:latin typeface="Calibri"/>
              </a:rPr>
              <a:t>reservar.ts
carga formulario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87952" y="1005840"/>
            <a:ext cx="1737360" cy="182880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33672" y="10515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C4755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79392" y="1463040"/>
            <a:ext cx="1554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2F2A2A"/>
                </a:solidFill>
                <a:latin typeface="Calibri"/>
              </a:rPr>
              <a:t>GET estilistas
disponibles
para esa fecha</a:t>
            </a:r>
          </a:p>
          <a:p>
            <a:pPr algn="ctr">
              <a:spcAft>
                <a:spcPts val="200"/>
              </a:spcAft>
            </a:pPr>
            <a:r>
              <a:rPr sz="900" b="0">
                <a:solidFill>
                  <a:srgbClr val="9B6F75"/>
                </a:solidFill>
                <a:latin typeface="Calibri"/>
              </a:rPr>
              <a:t>/api/citas/
estilistas-disponibles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4768" y="1005840"/>
            <a:ext cx="1737360" cy="1828800"/>
          </a:xfrm>
          <a:prstGeom prst="rect">
            <a:avLst/>
          </a:prstGeom>
          <a:solidFill>
            <a:srgbClr val="D5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0488" y="10515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C4755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7" y="1463040"/>
            <a:ext cx="1554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2F2A2A"/>
                </a:solidFill>
                <a:latin typeface="Calibri"/>
              </a:rPr>
              <a:t>Selecciona
estilista y hora</a:t>
            </a:r>
          </a:p>
          <a:p>
            <a:pPr algn="ctr">
              <a:spcAft>
                <a:spcPts val="200"/>
              </a:spcAft>
            </a:pPr>
            <a:r>
              <a:rPr sz="900" b="0">
                <a:solidFill>
                  <a:srgbClr val="9B6F75"/>
                </a:solidFill>
                <a:latin typeface="Calibri"/>
              </a:rPr>
              <a:t>Validación
local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01584" y="1005840"/>
            <a:ext cx="1737360" cy="1828800"/>
          </a:xfrm>
          <a:prstGeom prst="rect">
            <a:avLst/>
          </a:prstGeom>
          <a:solidFill>
            <a:srgbClr val="E2D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47304" y="10515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C4755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3024" y="1463040"/>
            <a:ext cx="1554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2F2A2A"/>
                </a:solidFill>
                <a:latin typeface="Calibri"/>
              </a:rPr>
              <a:t>POST /api/citas
Crea la cita</a:t>
            </a:r>
          </a:p>
          <a:p>
            <a:pPr algn="ctr">
              <a:spcAft>
                <a:spcPts val="200"/>
              </a:spcAft>
            </a:pPr>
            <a:r>
              <a:rPr sz="900" b="0">
                <a:solidFill>
                  <a:srgbClr val="9B6F75"/>
                </a:solidFill>
                <a:latin typeface="Calibri"/>
              </a:rPr>
              <a:t>Backend verifica
conflictos de horario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00" y="1005840"/>
            <a:ext cx="1737360" cy="1828800"/>
          </a:xfrm>
          <a:prstGeom prst="rect">
            <a:avLst/>
          </a:prstGeom>
          <a:solidFill>
            <a:srgbClr val="D8A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10515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C4755"/>
                </a:solidFill>
                <a:latin typeface="Calibr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40" y="1463040"/>
            <a:ext cx="1554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2F2A2A"/>
                </a:solidFill>
                <a:latin typeface="Calibri"/>
              </a:rPr>
              <a:t>Email
automático
al cliente</a:t>
            </a:r>
          </a:p>
          <a:p>
            <a:pPr algn="ctr">
              <a:spcAft>
                <a:spcPts val="200"/>
              </a:spcAft>
            </a:pPr>
            <a:r>
              <a:rPr sz="900" b="0">
                <a:solidFill>
                  <a:srgbClr val="9B6F75"/>
                </a:solidFill>
                <a:latin typeface="Calibri"/>
              </a:rPr>
              <a:t>Backend: async
fire-and-forget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29967" y="16916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76E79"/>
                </a:solidFill>
                <a:latin typeface="Calibr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86784" y="16916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76E79"/>
                </a:solidFill>
                <a:latin typeface="Calibri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16916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76E79"/>
                </a:solidFill>
                <a:latin typeface="Calibri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0416" y="16916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76E79"/>
                </a:solidFill>
                <a:latin typeface="Calibri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57232" y="16916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76E79"/>
                </a:solidFill>
                <a:latin typeface="Calibri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108960"/>
            <a:ext cx="11338560" cy="36576"/>
          </a:xfrm>
          <a:prstGeom prst="rect">
            <a:avLst/>
          </a:prstGeom>
          <a:solidFill>
            <a:srgbClr val="D8A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3246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C4755"/>
                </a:solidFill>
                <a:latin typeface="Calibri"/>
              </a:rPr>
              <a:t>Lógica de validación en reservar.ts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37033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F2A2A"/>
                </a:solidFill>
                <a:latin typeface="Calibri"/>
              </a:rPr>
              <a:t>• El servicio se puede preseleccionar desde servicios.ts, promociones.ts o al editar una cita existente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42062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F2A2A"/>
                </a:solidFill>
                <a:latin typeface="Calibri"/>
              </a:rPr>
              <a:t>• La fecha acepta solo el mes actual y el mes siguiente — validado en el frontend antes de enviar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470916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F2A2A"/>
                </a:solidFill>
                <a:latin typeface="Calibri"/>
              </a:rPr>
              <a:t>• Los estilistas disponibles se cargan dinámicamente cada vez que el usuario cambia la fecha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521208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F2A2A"/>
                </a:solidFill>
                <a:latin typeface="Calibri"/>
              </a:rPr>
              <a:t>• El precio final viene del backend (no del frontend) — se lee de la tabla servicios en el momento de crear la cita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FD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B6F75"/>
                </a:solidFill>
                <a:latin typeface="Calibri"/>
              </a:rPr>
              <a:t>PonteGuapa — Manual Técnico Frontend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B6F75"/>
                </a:solidFill>
                <a:latin typeface="Calibri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69A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Módulo Estilista — Endpoints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594360" cy="246888"/>
          </a:xfrm>
          <a:prstGeom prst="rect">
            <a:avLst/>
          </a:prstGeom>
          <a:solidFill>
            <a:srgbClr val="B76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2336" y="987552"/>
            <a:ext cx="52120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Método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960120"/>
            <a:ext cx="3840480" cy="246888"/>
          </a:xfrm>
          <a:prstGeom prst="rect">
            <a:avLst/>
          </a:prstGeom>
          <a:solidFill>
            <a:srgbClr val="B76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987552"/>
            <a:ext cx="376732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Endpoint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800600" y="960120"/>
            <a:ext cx="6903720" cy="246888"/>
          </a:xfrm>
          <a:prstGeom prst="rect">
            <a:avLst/>
          </a:prstGeom>
          <a:solidFill>
            <a:srgbClr val="B76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37176" y="987552"/>
            <a:ext cx="683056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Componente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207008"/>
            <a:ext cx="594360" cy="246888"/>
          </a:xfrm>
          <a:prstGeom prst="rect">
            <a:avLst/>
          </a:prstGeom>
          <a:solidFill>
            <a:srgbClr val="D5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" y="1234440"/>
            <a:ext cx="52120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F2A2A"/>
                </a:solidFill>
                <a:latin typeface="Calibri"/>
              </a:rPr>
              <a:t>GET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1207008"/>
            <a:ext cx="384048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4984" y="1234440"/>
            <a:ext cx="37490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76BC4"/>
                </a:solidFill>
                <a:latin typeface="Calibri"/>
              </a:rPr>
              <a:t>/api/citas/mis-citas-estilista?fecha=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00600" y="1207008"/>
            <a:ext cx="690372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55464" y="1234440"/>
            <a:ext cx="6812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F2A2A"/>
                </a:solidFill>
                <a:latin typeface="Calibri"/>
              </a:rPr>
              <a:t>pantalla-estilista.ts, citas-estilista.ts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1453896"/>
            <a:ext cx="594360" cy="246888"/>
          </a:xfrm>
          <a:prstGeom prst="rect">
            <a:avLst/>
          </a:prstGeom>
          <a:solidFill>
            <a:srgbClr val="D5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2336" y="1481328"/>
            <a:ext cx="52120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F2A2A"/>
                </a:solidFill>
                <a:latin typeface="Calibri"/>
              </a:rPr>
              <a:t>GET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" y="1453896"/>
            <a:ext cx="3840480" cy="246888"/>
          </a:xfrm>
          <a:prstGeom prst="rect">
            <a:avLst/>
          </a:prstGeom>
          <a:solidFill>
            <a:srgbClr val="F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4984" y="1481328"/>
            <a:ext cx="37490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76BC4"/>
                </a:solidFill>
                <a:latin typeface="Calibri"/>
              </a:rPr>
              <a:t>/api/horarios/mi-horario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00600" y="1453896"/>
            <a:ext cx="6903720" cy="246888"/>
          </a:xfrm>
          <a:prstGeom prst="rect">
            <a:avLst/>
          </a:prstGeom>
          <a:solidFill>
            <a:srgbClr val="F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55464" y="1481328"/>
            <a:ext cx="6812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F2A2A"/>
                </a:solidFill>
                <a:latin typeface="Calibri"/>
              </a:rPr>
              <a:t>pantalla-estilista.ts, horario-estilista.ts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1700784"/>
            <a:ext cx="594360" cy="246888"/>
          </a:xfrm>
          <a:prstGeom prst="rect">
            <a:avLst/>
          </a:prstGeom>
          <a:solidFill>
            <a:srgbClr val="D5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2336" y="1728216"/>
            <a:ext cx="52120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F2A2A"/>
                </a:solidFill>
                <a:latin typeface="Calibri"/>
              </a:rPr>
              <a:t>GET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0120" y="1700784"/>
            <a:ext cx="384048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4984" y="1728216"/>
            <a:ext cx="37490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76BC4"/>
                </a:solidFill>
                <a:latin typeface="Calibri"/>
              </a:rPr>
              <a:t>/api/notif-estilista/mis-notificaciones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00600" y="1700784"/>
            <a:ext cx="690372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55464" y="1728216"/>
            <a:ext cx="6812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F2A2A"/>
                </a:solidFill>
                <a:latin typeface="Calibri"/>
              </a:rPr>
              <a:t>pantalla-estilista.ts, notificacion-estilista.ts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1947672"/>
            <a:ext cx="594360" cy="246888"/>
          </a:xfrm>
          <a:prstGeom prst="rect">
            <a:avLst/>
          </a:prstGeom>
          <a:solidFill>
            <a:srgbClr val="D5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2336" y="1975103"/>
            <a:ext cx="52120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F2A2A"/>
                </a:solidFill>
                <a:latin typeface="Calibri"/>
              </a:rPr>
              <a:t>GET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0120" y="1947672"/>
            <a:ext cx="3840480" cy="246888"/>
          </a:xfrm>
          <a:prstGeom prst="rect">
            <a:avLst/>
          </a:prstGeom>
          <a:solidFill>
            <a:srgbClr val="F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4984" y="1975103"/>
            <a:ext cx="37490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76BC4"/>
                </a:solidFill>
                <a:latin typeface="Calibri"/>
              </a:rPr>
              <a:t>/api/notif-estilista/sin-leer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00600" y="1947672"/>
            <a:ext cx="6903720" cy="246888"/>
          </a:xfrm>
          <a:prstGeom prst="rect">
            <a:avLst/>
          </a:prstGeom>
          <a:solidFill>
            <a:srgbClr val="F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55464" y="1975103"/>
            <a:ext cx="6812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F2A2A"/>
                </a:solidFill>
                <a:latin typeface="Calibri"/>
              </a:rPr>
              <a:t>estilista-navbar.ts — badge de no leídas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2194560"/>
            <a:ext cx="594360" cy="246888"/>
          </a:xfrm>
          <a:prstGeom prst="rect">
            <a:avLst/>
          </a:prstGeom>
          <a:solidFill>
            <a:srgbClr val="E2D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2336" y="2221992"/>
            <a:ext cx="52120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F2A2A"/>
                </a:solidFill>
                <a:latin typeface="Calibri"/>
              </a:rPr>
              <a:t>PATCH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0120" y="2194560"/>
            <a:ext cx="384048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4984" y="2221992"/>
            <a:ext cx="37490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76BC4"/>
                </a:solidFill>
                <a:latin typeface="Calibri"/>
              </a:rPr>
              <a:t>/api/citas/:id/estado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00600" y="2194560"/>
            <a:ext cx="690372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55464" y="2221992"/>
            <a:ext cx="6812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F2A2A"/>
                </a:solidFill>
                <a:latin typeface="Calibri"/>
              </a:rPr>
              <a:t>citas-estilista.ts — marcar como completada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2441448"/>
            <a:ext cx="594360" cy="246888"/>
          </a:xfrm>
          <a:prstGeom prst="rect">
            <a:avLst/>
          </a:prstGeom>
          <a:solidFill>
            <a:srgbClr val="E2D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02336" y="2468879"/>
            <a:ext cx="52120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F2A2A"/>
                </a:solidFill>
                <a:latin typeface="Calibri"/>
              </a:rPr>
              <a:t>PATCH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60120" y="2441448"/>
            <a:ext cx="3840480" cy="246888"/>
          </a:xfrm>
          <a:prstGeom prst="rect">
            <a:avLst/>
          </a:prstGeom>
          <a:solidFill>
            <a:srgbClr val="F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14984" y="2468879"/>
            <a:ext cx="37490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76BC4"/>
                </a:solidFill>
                <a:latin typeface="Calibri"/>
              </a:rPr>
              <a:t>/api/notif-estilista/:id/leer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800600" y="2441448"/>
            <a:ext cx="6903720" cy="246888"/>
          </a:xfrm>
          <a:prstGeom prst="rect">
            <a:avLst/>
          </a:prstGeom>
          <a:solidFill>
            <a:srgbClr val="F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55464" y="2468879"/>
            <a:ext cx="6812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F2A2A"/>
                </a:solidFill>
                <a:latin typeface="Calibri"/>
              </a:rPr>
              <a:t>notificacion-estilista.ts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2688336"/>
            <a:ext cx="594360" cy="246888"/>
          </a:xfrm>
          <a:prstGeom prst="rect">
            <a:avLst/>
          </a:prstGeom>
          <a:solidFill>
            <a:srgbClr val="E2D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02336" y="2715768"/>
            <a:ext cx="52120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F2A2A"/>
                </a:solidFill>
                <a:latin typeface="Calibri"/>
              </a:rPr>
              <a:t>PATCH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60120" y="2688336"/>
            <a:ext cx="384048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14984" y="2715768"/>
            <a:ext cx="37490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76BC4"/>
                </a:solidFill>
                <a:latin typeface="Calibri"/>
              </a:rPr>
              <a:t>/api/notif-estilista/marcar-todas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800600" y="2688336"/>
            <a:ext cx="690372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855464" y="2715768"/>
            <a:ext cx="6812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F2A2A"/>
                </a:solidFill>
                <a:latin typeface="Calibri"/>
              </a:rPr>
              <a:t>notificacion-estilista.ts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2935224"/>
            <a:ext cx="594360" cy="246888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02336" y="2962656"/>
            <a:ext cx="52120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F2A2A"/>
                </a:solidFill>
                <a:latin typeface="Calibri"/>
              </a:rPr>
              <a:t>DELETE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60120" y="2935224"/>
            <a:ext cx="3840480" cy="246888"/>
          </a:xfrm>
          <a:prstGeom prst="rect">
            <a:avLst/>
          </a:prstGeom>
          <a:solidFill>
            <a:srgbClr val="F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14984" y="2962656"/>
            <a:ext cx="37490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76BC4"/>
                </a:solidFill>
                <a:latin typeface="Calibri"/>
              </a:rPr>
              <a:t>/api/notif-estilista/:id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800600" y="2935224"/>
            <a:ext cx="6903720" cy="246888"/>
          </a:xfrm>
          <a:prstGeom prst="rect">
            <a:avLst/>
          </a:prstGeom>
          <a:solidFill>
            <a:srgbClr val="F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855464" y="2962656"/>
            <a:ext cx="6812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F2A2A"/>
                </a:solidFill>
                <a:latin typeface="Calibri"/>
              </a:rPr>
              <a:t>notificacion-estilista.ts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3182112"/>
            <a:ext cx="594360" cy="246888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02336" y="3209544"/>
            <a:ext cx="52120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F2A2A"/>
                </a:solidFill>
                <a:latin typeface="Calibri"/>
              </a:rPr>
              <a:t>DELETE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60120" y="3182112"/>
            <a:ext cx="384048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14984" y="3209544"/>
            <a:ext cx="37490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76BC4"/>
                </a:solidFill>
                <a:latin typeface="Calibri"/>
              </a:rPr>
              <a:t>/api/notif-estilista/borrar-todas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800600" y="3182112"/>
            <a:ext cx="690372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855464" y="3209544"/>
            <a:ext cx="6812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F2A2A"/>
                </a:solidFill>
                <a:latin typeface="Calibri"/>
              </a:rPr>
              <a:t>notificacion-estilista.ts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6576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B6F75"/>
                </a:solidFill>
                <a:latin typeface="Calibri"/>
              </a:rPr>
              <a:t>⚠  detalle-citas.ts, perfil-estilista.ts y resenas-estilista.ts usan datos mock y aún no consumen endpoints reales.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FD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743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B6F75"/>
                </a:solidFill>
                <a:latin typeface="Calibri"/>
              </a:rPr>
              <a:t>PonteGuapa — Manual Técnico Frontend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B6F75"/>
                </a:solidFill>
                <a:latin typeface="Calibri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5C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Módulo Administrador — Endpoints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594360" cy="246888"/>
          </a:xfrm>
          <a:prstGeom prst="rect">
            <a:avLst/>
          </a:prstGeom>
          <a:solidFill>
            <a:srgbClr val="B76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2336" y="987552"/>
            <a:ext cx="52120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Método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960120"/>
            <a:ext cx="3840480" cy="246888"/>
          </a:xfrm>
          <a:prstGeom prst="rect">
            <a:avLst/>
          </a:prstGeom>
          <a:solidFill>
            <a:srgbClr val="B76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987552"/>
            <a:ext cx="376732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Endpoint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800600" y="960120"/>
            <a:ext cx="6903720" cy="246888"/>
          </a:xfrm>
          <a:prstGeom prst="rect">
            <a:avLst/>
          </a:prstGeom>
          <a:solidFill>
            <a:srgbClr val="B76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37176" y="987552"/>
            <a:ext cx="683056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Componente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207008"/>
            <a:ext cx="594360" cy="246888"/>
          </a:xfrm>
          <a:prstGeom prst="rect">
            <a:avLst/>
          </a:prstGeom>
          <a:solidFill>
            <a:srgbClr val="D5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" y="1234440"/>
            <a:ext cx="52120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F2A2A"/>
                </a:solidFill>
                <a:latin typeface="Calibri"/>
              </a:rPr>
              <a:t>GET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1207008"/>
            <a:ext cx="384048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4984" y="1234440"/>
            <a:ext cx="37490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76BC4"/>
                </a:solidFill>
                <a:latin typeface="Calibri"/>
              </a:rPr>
              <a:t>/api/citas?fecha=&amp;estado=&amp;estilista_id=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00600" y="1207008"/>
            <a:ext cx="690372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55464" y="1234440"/>
            <a:ext cx="6812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F2A2A"/>
                </a:solidFill>
                <a:latin typeface="Calibri"/>
              </a:rPr>
              <a:t>pantalla-administrador.ts, gestion-citas-admin.ts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1453896"/>
            <a:ext cx="594360" cy="246888"/>
          </a:xfrm>
          <a:prstGeom prst="rect">
            <a:avLst/>
          </a:prstGeom>
          <a:solidFill>
            <a:srgbClr val="D5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2336" y="1481328"/>
            <a:ext cx="52120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F2A2A"/>
                </a:solidFill>
                <a:latin typeface="Calibri"/>
              </a:rPr>
              <a:t>GET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" y="1453896"/>
            <a:ext cx="3840480" cy="246888"/>
          </a:xfrm>
          <a:prstGeom prst="rect">
            <a:avLst/>
          </a:prstGeom>
          <a:solidFill>
            <a:srgbClr val="F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4984" y="1481328"/>
            <a:ext cx="37490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76BC4"/>
                </a:solidFill>
                <a:latin typeface="Calibri"/>
              </a:rPr>
              <a:t>/api/usuarios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00600" y="1453896"/>
            <a:ext cx="6903720" cy="246888"/>
          </a:xfrm>
          <a:prstGeom prst="rect">
            <a:avLst/>
          </a:prstGeom>
          <a:solidFill>
            <a:srgbClr val="F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55464" y="1481328"/>
            <a:ext cx="6812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F2A2A"/>
                </a:solidFill>
                <a:latin typeface="Calibri"/>
              </a:rPr>
              <a:t>empleados-admin.ts, horario-administrador.ts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1700784"/>
            <a:ext cx="594360" cy="246888"/>
          </a:xfrm>
          <a:prstGeom prst="rect">
            <a:avLst/>
          </a:prstGeom>
          <a:solidFill>
            <a:srgbClr val="D5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2336" y="1728216"/>
            <a:ext cx="52120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F2A2A"/>
                </a:solidFill>
                <a:latin typeface="Calibri"/>
              </a:rPr>
              <a:t>GET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0120" y="1700784"/>
            <a:ext cx="384048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4984" y="1728216"/>
            <a:ext cx="37490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76BC4"/>
                </a:solidFill>
                <a:latin typeface="Calibri"/>
              </a:rPr>
              <a:t>/api/horarios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00600" y="1700784"/>
            <a:ext cx="690372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55464" y="1728216"/>
            <a:ext cx="6812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F2A2A"/>
                </a:solidFill>
                <a:latin typeface="Calibri"/>
              </a:rPr>
              <a:t>horario-administrador.ts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1947672"/>
            <a:ext cx="594360" cy="246888"/>
          </a:xfrm>
          <a:prstGeom prst="rect">
            <a:avLst/>
          </a:prstGeom>
          <a:solidFill>
            <a:srgbClr val="D5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2336" y="1975103"/>
            <a:ext cx="52120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F2A2A"/>
                </a:solidFill>
                <a:latin typeface="Calibri"/>
              </a:rPr>
              <a:t>GET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0120" y="1947672"/>
            <a:ext cx="3840480" cy="246888"/>
          </a:xfrm>
          <a:prstGeom prst="rect">
            <a:avLst/>
          </a:prstGeom>
          <a:solidFill>
            <a:srgbClr val="F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4984" y="1975103"/>
            <a:ext cx="37490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76BC4"/>
                </a:solidFill>
                <a:latin typeface="Calibri"/>
              </a:rPr>
              <a:t>/api/notificaciones/historial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00600" y="1947672"/>
            <a:ext cx="6903720" cy="246888"/>
          </a:xfrm>
          <a:prstGeom prst="rect">
            <a:avLst/>
          </a:prstGeom>
          <a:solidFill>
            <a:srgbClr val="F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55464" y="1975103"/>
            <a:ext cx="6812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F2A2A"/>
                </a:solidFill>
                <a:latin typeface="Calibri"/>
              </a:rPr>
              <a:t>notificaciones-admin.ts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2194560"/>
            <a:ext cx="594360" cy="246888"/>
          </a:xfrm>
          <a:prstGeom prst="rect">
            <a:avLst/>
          </a:prstGeom>
          <a:solidFill>
            <a:srgbClr val="D5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2336" y="2221992"/>
            <a:ext cx="52120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F2A2A"/>
                </a:solidFill>
                <a:latin typeface="Calibri"/>
              </a:rPr>
              <a:t>GET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0120" y="2194560"/>
            <a:ext cx="384048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4984" y="2221992"/>
            <a:ext cx="37490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76BC4"/>
                </a:solidFill>
                <a:latin typeface="Calibri"/>
              </a:rPr>
              <a:t>/api/notificaciones/total-clientes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00600" y="2194560"/>
            <a:ext cx="690372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55464" y="2221992"/>
            <a:ext cx="6812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F2A2A"/>
                </a:solidFill>
                <a:latin typeface="Calibri"/>
              </a:rPr>
              <a:t>notificaciones-admin.ts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2441448"/>
            <a:ext cx="594360" cy="246888"/>
          </a:xfrm>
          <a:prstGeom prst="rect">
            <a:avLst/>
          </a:prstGeom>
          <a:solidFill>
            <a:srgbClr val="D5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02336" y="2468879"/>
            <a:ext cx="52120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F2A2A"/>
                </a:solidFill>
                <a:latin typeface="Calibri"/>
              </a:rPr>
              <a:t>GET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60120" y="2441448"/>
            <a:ext cx="3840480" cy="246888"/>
          </a:xfrm>
          <a:prstGeom prst="rect">
            <a:avLst/>
          </a:prstGeom>
          <a:solidFill>
            <a:srgbClr val="F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14984" y="2468879"/>
            <a:ext cx="37490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76BC4"/>
                </a:solidFill>
                <a:latin typeface="Calibri"/>
              </a:rPr>
              <a:t>/api/notificaciones/lista-clientes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800600" y="2441448"/>
            <a:ext cx="6903720" cy="246888"/>
          </a:xfrm>
          <a:prstGeom prst="rect">
            <a:avLst/>
          </a:prstGeom>
          <a:solidFill>
            <a:srgbClr val="F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55464" y="2468879"/>
            <a:ext cx="6812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F2A2A"/>
                </a:solidFill>
                <a:latin typeface="Calibri"/>
              </a:rPr>
              <a:t>notificaciones-admin.ts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2688336"/>
            <a:ext cx="594360" cy="246888"/>
          </a:xfrm>
          <a:prstGeom prst="rect">
            <a:avLst/>
          </a:prstGeom>
          <a:solidFill>
            <a:srgbClr val="CC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02336" y="2715768"/>
            <a:ext cx="52120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F2A2A"/>
                </a:solidFill>
                <a:latin typeface="Calibri"/>
              </a:rPr>
              <a:t>POST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60120" y="2688336"/>
            <a:ext cx="384048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14984" y="2715768"/>
            <a:ext cx="37490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76BC4"/>
                </a:solidFill>
                <a:latin typeface="Calibri"/>
              </a:rPr>
              <a:t>/api/usuarios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800600" y="2688336"/>
            <a:ext cx="690372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855464" y="2715768"/>
            <a:ext cx="6812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F2A2A"/>
                </a:solidFill>
                <a:latin typeface="Calibri"/>
              </a:rPr>
              <a:t>empleados-admin.ts — crear empleado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2935224"/>
            <a:ext cx="594360" cy="246888"/>
          </a:xfrm>
          <a:prstGeom prst="rect">
            <a:avLst/>
          </a:prstGeom>
          <a:solidFill>
            <a:srgbClr val="CC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02336" y="2962656"/>
            <a:ext cx="52120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F2A2A"/>
                </a:solidFill>
                <a:latin typeface="Calibri"/>
              </a:rPr>
              <a:t>POST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60120" y="2935224"/>
            <a:ext cx="3840480" cy="246888"/>
          </a:xfrm>
          <a:prstGeom prst="rect">
            <a:avLst/>
          </a:prstGeom>
          <a:solidFill>
            <a:srgbClr val="F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14984" y="2962656"/>
            <a:ext cx="37490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76BC4"/>
                </a:solidFill>
                <a:latin typeface="Calibri"/>
              </a:rPr>
              <a:t>/api/horarios/save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800600" y="2935224"/>
            <a:ext cx="6903720" cy="246888"/>
          </a:xfrm>
          <a:prstGeom prst="rect">
            <a:avLst/>
          </a:prstGeom>
          <a:solidFill>
            <a:srgbClr val="F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855464" y="2962656"/>
            <a:ext cx="6812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F2A2A"/>
                </a:solidFill>
                <a:latin typeface="Calibri"/>
              </a:rPr>
              <a:t>horario-administrador.ts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3182112"/>
            <a:ext cx="594360" cy="246888"/>
          </a:xfrm>
          <a:prstGeom prst="rect">
            <a:avLst/>
          </a:prstGeom>
          <a:solidFill>
            <a:srgbClr val="CC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02336" y="3209544"/>
            <a:ext cx="52120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F2A2A"/>
                </a:solidFill>
                <a:latin typeface="Calibri"/>
              </a:rPr>
              <a:t>POST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60120" y="3182112"/>
            <a:ext cx="384048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14984" y="3209544"/>
            <a:ext cx="37490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76BC4"/>
                </a:solidFill>
                <a:latin typeface="Calibri"/>
              </a:rPr>
              <a:t>/api/notificaciones/enviar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800600" y="3182112"/>
            <a:ext cx="690372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855464" y="3209544"/>
            <a:ext cx="6812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F2A2A"/>
                </a:solidFill>
                <a:latin typeface="Calibri"/>
              </a:rPr>
              <a:t>notificaciones-admin.ts — email masivo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3429000"/>
            <a:ext cx="594360" cy="246888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02336" y="3456432"/>
            <a:ext cx="52120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F2A2A"/>
                </a:solidFill>
                <a:latin typeface="Calibri"/>
              </a:rPr>
              <a:t>PUT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60120" y="3429000"/>
            <a:ext cx="3840480" cy="246888"/>
          </a:xfrm>
          <a:prstGeom prst="rect">
            <a:avLst/>
          </a:prstGeom>
          <a:solidFill>
            <a:srgbClr val="F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14984" y="3456432"/>
            <a:ext cx="37490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76BC4"/>
                </a:solidFill>
                <a:latin typeface="Calibri"/>
              </a:rPr>
              <a:t>/api/usuarios/:id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800600" y="3429000"/>
            <a:ext cx="6903720" cy="246888"/>
          </a:xfrm>
          <a:prstGeom prst="rect">
            <a:avLst/>
          </a:prstGeom>
          <a:solidFill>
            <a:srgbClr val="F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855464" y="3456432"/>
            <a:ext cx="6812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F2A2A"/>
                </a:solidFill>
                <a:latin typeface="Calibri"/>
              </a:rPr>
              <a:t>empleados-admin.ts — editar empleado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65760" y="3675888"/>
            <a:ext cx="594360" cy="246888"/>
          </a:xfrm>
          <a:prstGeom prst="rect">
            <a:avLst/>
          </a:prstGeom>
          <a:solidFill>
            <a:srgbClr val="E2D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02336" y="3703320"/>
            <a:ext cx="52120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F2A2A"/>
                </a:solidFill>
                <a:latin typeface="Calibri"/>
              </a:rPr>
              <a:t>PATCH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60120" y="3675888"/>
            <a:ext cx="384048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14984" y="3703320"/>
            <a:ext cx="37490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76BC4"/>
                </a:solidFill>
                <a:latin typeface="Calibri"/>
              </a:rPr>
              <a:t>/api/citas/:id/estado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800600" y="3675888"/>
            <a:ext cx="690372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855464" y="3703320"/>
            <a:ext cx="6812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F2A2A"/>
                </a:solidFill>
                <a:latin typeface="Calibri"/>
              </a:rPr>
              <a:t>gestion-citas-admin.ts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65760" y="3922776"/>
            <a:ext cx="594360" cy="246888"/>
          </a:xfrm>
          <a:prstGeom prst="rect">
            <a:avLst/>
          </a:prstGeom>
          <a:solidFill>
            <a:srgbClr val="E2D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02336" y="3950208"/>
            <a:ext cx="52120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F2A2A"/>
                </a:solidFill>
                <a:latin typeface="Calibri"/>
              </a:rPr>
              <a:t>PATCH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60120" y="3922776"/>
            <a:ext cx="3840480" cy="246888"/>
          </a:xfrm>
          <a:prstGeom prst="rect">
            <a:avLst/>
          </a:prstGeom>
          <a:solidFill>
            <a:srgbClr val="F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14984" y="3950208"/>
            <a:ext cx="37490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76BC4"/>
                </a:solidFill>
                <a:latin typeface="Calibri"/>
              </a:rPr>
              <a:t>/api/usuarios/:id/cambiar-password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800600" y="3922776"/>
            <a:ext cx="6903720" cy="246888"/>
          </a:xfrm>
          <a:prstGeom prst="rect">
            <a:avLst/>
          </a:prstGeom>
          <a:solidFill>
            <a:srgbClr val="F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855464" y="3950208"/>
            <a:ext cx="6812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F2A2A"/>
                </a:solidFill>
                <a:latin typeface="Calibri"/>
              </a:rPr>
              <a:t>empleados-admin.ts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65760" y="4169664"/>
            <a:ext cx="594360" cy="246888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02336" y="4197096"/>
            <a:ext cx="52120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F2A2A"/>
                </a:solidFill>
                <a:latin typeface="Calibri"/>
              </a:rPr>
              <a:t>DELETE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60120" y="4169664"/>
            <a:ext cx="384048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14984" y="4197096"/>
            <a:ext cx="37490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76BC4"/>
                </a:solidFill>
                <a:latin typeface="Calibri"/>
              </a:rPr>
              <a:t>/api/usuarios/:id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800600" y="4169664"/>
            <a:ext cx="690372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855464" y="4197096"/>
            <a:ext cx="6812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F2A2A"/>
                </a:solidFill>
                <a:latin typeface="Calibri"/>
              </a:rPr>
              <a:t>empleados-admin.ts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65760" y="4416552"/>
            <a:ext cx="594360" cy="246888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02336" y="4443984"/>
            <a:ext cx="52120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F2A2A"/>
                </a:solidFill>
                <a:latin typeface="Calibri"/>
              </a:rPr>
              <a:t>DELETE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60120" y="4416552"/>
            <a:ext cx="3840480" cy="246888"/>
          </a:xfrm>
          <a:prstGeom prst="rect">
            <a:avLst/>
          </a:prstGeom>
          <a:solidFill>
            <a:srgbClr val="F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14984" y="4443984"/>
            <a:ext cx="37490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76BC4"/>
                </a:solidFill>
                <a:latin typeface="Calibri"/>
              </a:rPr>
              <a:t>/api/horarios/:empleado_id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800600" y="4416552"/>
            <a:ext cx="6903720" cy="246888"/>
          </a:xfrm>
          <a:prstGeom prst="rect">
            <a:avLst/>
          </a:prstGeom>
          <a:solidFill>
            <a:srgbClr val="F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855464" y="4443984"/>
            <a:ext cx="6812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F2A2A"/>
                </a:solidFill>
                <a:latin typeface="Calibri"/>
              </a:rPr>
              <a:t>horario-administrador.ts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65760" y="4663440"/>
            <a:ext cx="594360" cy="246888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02336" y="4690872"/>
            <a:ext cx="52120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F2A2A"/>
                </a:solidFill>
                <a:latin typeface="Calibri"/>
              </a:rPr>
              <a:t>DELETE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60120" y="4663440"/>
            <a:ext cx="384048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014984" y="4690872"/>
            <a:ext cx="37490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76BC4"/>
                </a:solidFill>
                <a:latin typeface="Calibri"/>
              </a:rPr>
              <a:t>/api/notificaciones/historial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800600" y="4663440"/>
            <a:ext cx="690372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855464" y="4690872"/>
            <a:ext cx="6812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F2A2A"/>
                </a:solidFill>
                <a:latin typeface="Calibri"/>
              </a:rPr>
              <a:t>notificaciones-admin.ts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FD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743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B6F75"/>
                </a:solidFill>
                <a:latin typeface="Calibri"/>
              </a:rPr>
              <a:t>PonteGuapa — Manual Técnico Frontend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B6F75"/>
                </a:solidFill>
                <a:latin typeface="Calibri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B76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CRUD del Catálogo — Servicios, Promociones y Recompensas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11338560" cy="292608"/>
          </a:xfrm>
          <a:prstGeom prst="rect">
            <a:avLst/>
          </a:prstGeom>
          <a:solidFill>
            <a:srgbClr val="D8A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41832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C4755"/>
                </a:solidFill>
                <a:latin typeface="Calibri"/>
              </a:rPr>
              <a:t>SERVICIOS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07008"/>
            <a:ext cx="594360" cy="219456"/>
          </a:xfrm>
          <a:prstGeom prst="rect">
            <a:avLst/>
          </a:prstGeom>
          <a:solidFill>
            <a:srgbClr val="B76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2336" y="1225296"/>
            <a:ext cx="5212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Método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1207008"/>
            <a:ext cx="2331720" cy="219456"/>
          </a:xfrm>
          <a:prstGeom prst="rect">
            <a:avLst/>
          </a:prstGeom>
          <a:solidFill>
            <a:srgbClr val="B76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" y="1225296"/>
            <a:ext cx="22585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Endpoint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39" y="1207008"/>
            <a:ext cx="8385048" cy="219456"/>
          </a:xfrm>
          <a:prstGeom prst="rect">
            <a:avLst/>
          </a:prstGeom>
          <a:solidFill>
            <a:srgbClr val="B76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28415" y="1225296"/>
            <a:ext cx="83118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Componente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426464"/>
            <a:ext cx="594360" cy="210312"/>
          </a:xfrm>
          <a:prstGeom prst="rect">
            <a:avLst/>
          </a:prstGeom>
          <a:solidFill>
            <a:srgbClr val="D5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2336" y="1444752"/>
            <a:ext cx="52120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2F2A2A"/>
                </a:solidFill>
                <a:latin typeface="Calibri"/>
              </a:rPr>
              <a:t>GET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1426464"/>
            <a:ext cx="2331720" cy="2103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4" y="1444752"/>
            <a:ext cx="2240279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76BC4"/>
                </a:solidFill>
                <a:latin typeface="Calibri"/>
              </a:rPr>
              <a:t>/api/servicios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39" y="1426464"/>
            <a:ext cx="8385048" cy="2103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46703" y="1444752"/>
            <a:ext cx="829360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F2A2A"/>
                </a:solidFill>
                <a:latin typeface="Calibri"/>
              </a:rPr>
              <a:t>servicios-admin.ts (ruta pública)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1645920"/>
            <a:ext cx="594360" cy="210312"/>
          </a:xfrm>
          <a:prstGeom prst="rect">
            <a:avLst/>
          </a:prstGeom>
          <a:solidFill>
            <a:srgbClr val="CC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2336" y="1664208"/>
            <a:ext cx="52120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2F2A2A"/>
                </a:solidFill>
                <a:latin typeface="Calibri"/>
              </a:rPr>
              <a:t>POST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" y="1645920"/>
            <a:ext cx="2331720" cy="210312"/>
          </a:xfrm>
          <a:prstGeom prst="rect">
            <a:avLst/>
          </a:prstGeom>
          <a:solidFill>
            <a:srgbClr val="F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4984" y="1664208"/>
            <a:ext cx="2240279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76BC4"/>
                </a:solidFill>
                <a:latin typeface="Calibri"/>
              </a:rPr>
              <a:t>/api/servicios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91839" y="1645920"/>
            <a:ext cx="8385048" cy="210312"/>
          </a:xfrm>
          <a:prstGeom prst="rect">
            <a:avLst/>
          </a:prstGeom>
          <a:solidFill>
            <a:srgbClr val="F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46703" y="1664208"/>
            <a:ext cx="829360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F2A2A"/>
                </a:solidFill>
                <a:latin typeface="Calibri"/>
              </a:rPr>
              <a:t>servicios-admin.ts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1865376"/>
            <a:ext cx="594360" cy="210312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2336" y="1883664"/>
            <a:ext cx="52120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2F2A2A"/>
                </a:solidFill>
                <a:latin typeface="Calibri"/>
              </a:rPr>
              <a:t>PUT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120" y="1865376"/>
            <a:ext cx="2331720" cy="2103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4984" y="1883664"/>
            <a:ext cx="2240279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76BC4"/>
                </a:solidFill>
                <a:latin typeface="Calibri"/>
              </a:rPr>
              <a:t>/api/servicios/:id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91839" y="1865376"/>
            <a:ext cx="8385048" cy="2103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46703" y="1883664"/>
            <a:ext cx="829360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F2A2A"/>
                </a:solidFill>
                <a:latin typeface="Calibri"/>
              </a:rPr>
              <a:t>servicios-admin.ts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2084832"/>
            <a:ext cx="594360" cy="210312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2336" y="2103120"/>
            <a:ext cx="52120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2F2A2A"/>
                </a:solidFill>
                <a:latin typeface="Calibri"/>
              </a:rPr>
              <a:t>DELETE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0120" y="2084832"/>
            <a:ext cx="2331720" cy="210312"/>
          </a:xfrm>
          <a:prstGeom prst="rect">
            <a:avLst/>
          </a:prstGeom>
          <a:solidFill>
            <a:srgbClr val="F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4984" y="2103120"/>
            <a:ext cx="2240279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76BC4"/>
                </a:solidFill>
                <a:latin typeface="Calibri"/>
              </a:rPr>
              <a:t>/api/servicios/:id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91839" y="2084832"/>
            <a:ext cx="8385048" cy="210312"/>
          </a:xfrm>
          <a:prstGeom prst="rect">
            <a:avLst/>
          </a:prstGeom>
          <a:solidFill>
            <a:srgbClr val="F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46703" y="2103120"/>
            <a:ext cx="829360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F2A2A"/>
                </a:solidFill>
                <a:latin typeface="Calibri"/>
              </a:rPr>
              <a:t>servicios-admin.ts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063240"/>
            <a:ext cx="11338560" cy="292608"/>
          </a:xfrm>
          <a:prstGeom prst="rect">
            <a:avLst/>
          </a:prstGeom>
          <a:solidFill>
            <a:srgbClr val="D8A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3090672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C4755"/>
                </a:solidFill>
                <a:latin typeface="Calibri"/>
              </a:rPr>
              <a:t>PROMOCIONES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3355848"/>
            <a:ext cx="594360" cy="219456"/>
          </a:xfrm>
          <a:prstGeom prst="rect">
            <a:avLst/>
          </a:prstGeom>
          <a:solidFill>
            <a:srgbClr val="B76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02336" y="3374136"/>
            <a:ext cx="5212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Método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0120" y="3355848"/>
            <a:ext cx="2331720" cy="219456"/>
          </a:xfrm>
          <a:prstGeom prst="rect">
            <a:avLst/>
          </a:prstGeom>
          <a:solidFill>
            <a:srgbClr val="B76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6696" y="3374136"/>
            <a:ext cx="22585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Endpoint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91839" y="3355848"/>
            <a:ext cx="8385048" cy="219456"/>
          </a:xfrm>
          <a:prstGeom prst="rect">
            <a:avLst/>
          </a:prstGeom>
          <a:solidFill>
            <a:srgbClr val="B76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28415" y="3374136"/>
            <a:ext cx="83118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Componente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3575304"/>
            <a:ext cx="594360" cy="210312"/>
          </a:xfrm>
          <a:prstGeom prst="rect">
            <a:avLst/>
          </a:prstGeom>
          <a:solidFill>
            <a:srgbClr val="D5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02336" y="3593592"/>
            <a:ext cx="52120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2F2A2A"/>
                </a:solidFill>
                <a:latin typeface="Calibri"/>
              </a:rPr>
              <a:t>GET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0120" y="3575304"/>
            <a:ext cx="2331720" cy="2103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14984" y="3593592"/>
            <a:ext cx="2240279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76BC4"/>
                </a:solidFill>
                <a:latin typeface="Calibri"/>
              </a:rPr>
              <a:t>/api/promociones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91839" y="3575304"/>
            <a:ext cx="8385048" cy="2103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46703" y="3593592"/>
            <a:ext cx="829360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F2A2A"/>
                </a:solidFill>
                <a:latin typeface="Calibri"/>
              </a:rPr>
              <a:t>promociones-admin.ts (ruta pública)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3794760"/>
            <a:ext cx="594360" cy="210312"/>
          </a:xfrm>
          <a:prstGeom prst="rect">
            <a:avLst/>
          </a:prstGeom>
          <a:solidFill>
            <a:srgbClr val="CC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2336" y="3813048"/>
            <a:ext cx="52120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2F2A2A"/>
                </a:solidFill>
                <a:latin typeface="Calibri"/>
              </a:rPr>
              <a:t>POST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0120" y="3794760"/>
            <a:ext cx="2331720" cy="210312"/>
          </a:xfrm>
          <a:prstGeom prst="rect">
            <a:avLst/>
          </a:prstGeom>
          <a:solidFill>
            <a:srgbClr val="F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14984" y="3813048"/>
            <a:ext cx="2240279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76BC4"/>
                </a:solidFill>
                <a:latin typeface="Calibri"/>
              </a:rPr>
              <a:t>/api/promociones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91839" y="3794760"/>
            <a:ext cx="8385048" cy="210312"/>
          </a:xfrm>
          <a:prstGeom prst="rect">
            <a:avLst/>
          </a:prstGeom>
          <a:solidFill>
            <a:srgbClr val="F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346703" y="3813048"/>
            <a:ext cx="829360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F2A2A"/>
                </a:solidFill>
                <a:latin typeface="Calibri"/>
              </a:rPr>
              <a:t>promociones-admin.ts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4014216"/>
            <a:ext cx="594360" cy="210312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02336" y="4032504"/>
            <a:ext cx="52120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2F2A2A"/>
                </a:solidFill>
                <a:latin typeface="Calibri"/>
              </a:rPr>
              <a:t>PUT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0120" y="4014216"/>
            <a:ext cx="2331720" cy="2103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14984" y="4032504"/>
            <a:ext cx="2240279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76BC4"/>
                </a:solidFill>
                <a:latin typeface="Calibri"/>
              </a:rPr>
              <a:t>/api/promociones/:id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91839" y="4014216"/>
            <a:ext cx="8385048" cy="2103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346703" y="4032504"/>
            <a:ext cx="829360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F2A2A"/>
                </a:solidFill>
                <a:latin typeface="Calibri"/>
              </a:rPr>
              <a:t>promociones-admin.ts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5760" y="4233672"/>
            <a:ext cx="594360" cy="210312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02336" y="4251959"/>
            <a:ext cx="52120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2F2A2A"/>
                </a:solidFill>
                <a:latin typeface="Calibri"/>
              </a:rPr>
              <a:t>DELETE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0120" y="4233672"/>
            <a:ext cx="2331720" cy="210312"/>
          </a:xfrm>
          <a:prstGeom prst="rect">
            <a:avLst/>
          </a:prstGeom>
          <a:solidFill>
            <a:srgbClr val="F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14984" y="4251959"/>
            <a:ext cx="2240279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76BC4"/>
                </a:solidFill>
                <a:latin typeface="Calibri"/>
              </a:rPr>
              <a:t>/api/promociones/:id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91839" y="4233672"/>
            <a:ext cx="8385048" cy="210312"/>
          </a:xfrm>
          <a:prstGeom prst="rect">
            <a:avLst/>
          </a:prstGeom>
          <a:solidFill>
            <a:srgbClr val="F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346703" y="4251959"/>
            <a:ext cx="829360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F2A2A"/>
                </a:solidFill>
                <a:latin typeface="Calibri"/>
              </a:rPr>
              <a:t>promociones-admin.ts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65760" y="5166360"/>
            <a:ext cx="11338560" cy="292608"/>
          </a:xfrm>
          <a:prstGeom prst="rect">
            <a:avLst/>
          </a:prstGeom>
          <a:solidFill>
            <a:srgbClr val="D8A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7200" y="5193792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C4755"/>
                </a:solidFill>
                <a:latin typeface="Calibri"/>
              </a:rPr>
              <a:t>RECOMPENSAS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65760" y="5458968"/>
            <a:ext cx="594360" cy="219456"/>
          </a:xfrm>
          <a:prstGeom prst="rect">
            <a:avLst/>
          </a:prstGeom>
          <a:solidFill>
            <a:srgbClr val="B76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02336" y="5477256"/>
            <a:ext cx="5212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Método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60120" y="5458968"/>
            <a:ext cx="2331720" cy="219456"/>
          </a:xfrm>
          <a:prstGeom prst="rect">
            <a:avLst/>
          </a:prstGeom>
          <a:solidFill>
            <a:srgbClr val="B76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96696" y="5477256"/>
            <a:ext cx="22585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Endpoint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291839" y="5458968"/>
            <a:ext cx="8385048" cy="219456"/>
          </a:xfrm>
          <a:prstGeom prst="rect">
            <a:avLst/>
          </a:prstGeom>
          <a:solidFill>
            <a:srgbClr val="B76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328415" y="5477256"/>
            <a:ext cx="83118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Componente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65760" y="5678424"/>
            <a:ext cx="594360" cy="210312"/>
          </a:xfrm>
          <a:prstGeom prst="rect">
            <a:avLst/>
          </a:prstGeom>
          <a:solidFill>
            <a:srgbClr val="D5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02336" y="5696712"/>
            <a:ext cx="52120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2F2A2A"/>
                </a:solidFill>
                <a:latin typeface="Calibri"/>
              </a:rPr>
              <a:t>GET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60120" y="5678424"/>
            <a:ext cx="2331720" cy="2103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14984" y="5696712"/>
            <a:ext cx="2240279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76BC4"/>
                </a:solidFill>
                <a:latin typeface="Calibri"/>
              </a:rPr>
              <a:t>/api/recompensas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291839" y="5678424"/>
            <a:ext cx="8385048" cy="2103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346703" y="5696712"/>
            <a:ext cx="829360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F2A2A"/>
                </a:solidFill>
                <a:latin typeface="Calibri"/>
              </a:rPr>
              <a:t>recompensa-admin.ts (ruta pública)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65760" y="5897880"/>
            <a:ext cx="594360" cy="210312"/>
          </a:xfrm>
          <a:prstGeom prst="rect">
            <a:avLst/>
          </a:prstGeom>
          <a:solidFill>
            <a:srgbClr val="CC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02336" y="5916168"/>
            <a:ext cx="52120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2F2A2A"/>
                </a:solidFill>
                <a:latin typeface="Calibri"/>
              </a:rPr>
              <a:t>POST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60120" y="5897880"/>
            <a:ext cx="2331720" cy="210312"/>
          </a:xfrm>
          <a:prstGeom prst="rect">
            <a:avLst/>
          </a:prstGeom>
          <a:solidFill>
            <a:srgbClr val="F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14984" y="5916168"/>
            <a:ext cx="2240279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76BC4"/>
                </a:solidFill>
                <a:latin typeface="Calibri"/>
              </a:rPr>
              <a:t>/api/recompensas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291839" y="5897880"/>
            <a:ext cx="8385048" cy="210312"/>
          </a:xfrm>
          <a:prstGeom prst="rect">
            <a:avLst/>
          </a:prstGeom>
          <a:solidFill>
            <a:srgbClr val="F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346703" y="5916168"/>
            <a:ext cx="829360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F2A2A"/>
                </a:solidFill>
                <a:latin typeface="Calibri"/>
              </a:rPr>
              <a:t>recompensa-admin.ts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65760" y="6117336"/>
            <a:ext cx="594360" cy="210312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02336" y="6135624"/>
            <a:ext cx="52120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2F2A2A"/>
                </a:solidFill>
                <a:latin typeface="Calibri"/>
              </a:rPr>
              <a:t>PUT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60120" y="6117336"/>
            <a:ext cx="2331720" cy="2103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14984" y="6135624"/>
            <a:ext cx="2240279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76BC4"/>
                </a:solidFill>
                <a:latin typeface="Calibri"/>
              </a:rPr>
              <a:t>/api/recompensas/:id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291839" y="6117336"/>
            <a:ext cx="8385048" cy="2103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346703" y="6135624"/>
            <a:ext cx="829360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F2A2A"/>
                </a:solidFill>
                <a:latin typeface="Calibri"/>
              </a:rPr>
              <a:t>recompensa-admin.ts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65760" y="6336792"/>
            <a:ext cx="594360" cy="210312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02336" y="6355080"/>
            <a:ext cx="52120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2F2A2A"/>
                </a:solidFill>
                <a:latin typeface="Calibri"/>
              </a:rPr>
              <a:t>PUT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60120" y="6336792"/>
            <a:ext cx="2331720" cy="210312"/>
          </a:xfrm>
          <a:prstGeom prst="rect">
            <a:avLst/>
          </a:prstGeom>
          <a:solidFill>
            <a:srgbClr val="F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014984" y="6355080"/>
            <a:ext cx="2240279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76BC4"/>
                </a:solidFill>
                <a:latin typeface="Calibri"/>
              </a:rPr>
              <a:t>/api/recompensas/admin/puntos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291839" y="6336792"/>
            <a:ext cx="8385048" cy="210312"/>
          </a:xfrm>
          <a:prstGeom prst="rect">
            <a:avLst/>
          </a:prstGeom>
          <a:solidFill>
            <a:srgbClr val="FD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346703" y="6355080"/>
            <a:ext cx="829360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F2A2A"/>
                </a:solidFill>
                <a:latin typeface="Calibri"/>
              </a:rPr>
              <a:t>recompensa-admin.ts — ajustar puntos cliente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65760" y="6556248"/>
            <a:ext cx="594360" cy="210312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02336" y="6574536"/>
            <a:ext cx="52120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2F2A2A"/>
                </a:solidFill>
                <a:latin typeface="Calibri"/>
              </a:rPr>
              <a:t>DELETE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60120" y="6556248"/>
            <a:ext cx="2331720" cy="2103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014984" y="6574536"/>
            <a:ext cx="2240279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76BC4"/>
                </a:solidFill>
                <a:latin typeface="Calibri"/>
              </a:rPr>
              <a:t>/api/recompensas/:id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291839" y="6556248"/>
            <a:ext cx="8385048" cy="2103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346703" y="6574536"/>
            <a:ext cx="829360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F2A2A"/>
                </a:solidFill>
                <a:latin typeface="Calibri"/>
              </a:rPr>
              <a:t>recompensa-admin.ts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FD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743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B6F75"/>
                </a:solidFill>
                <a:latin typeface="Calibri"/>
              </a:rPr>
              <a:t>PonteGuapa — Manual Técnico Frontend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B6F75"/>
                </a:solidFill>
                <a:latin typeface="Calibri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B76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Patrones Técnicos del Frontend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5577840" cy="1280160"/>
          </a:xfrm>
          <a:prstGeom prst="rect">
            <a:avLst/>
          </a:prstGeom>
          <a:solidFill>
            <a:srgbClr val="D8A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8C4755"/>
                </a:solidFill>
                <a:latin typeface="Calibri"/>
              </a:rPr>
              <a:t>HttpClient + subscribe()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35608"/>
            <a:ext cx="53035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2F2A2A"/>
                </a:solidFill>
                <a:latin typeface="Calibri"/>
              </a:rPr>
              <a:t>Todas las llamadas HTTP usan HttpClient inyectado en el constructor.
Cada llamada usa .subscribe({ next, error }) para manejar respuesta y errores por separado.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377440"/>
            <a:ext cx="5577840" cy="1280160"/>
          </a:xfrm>
          <a:prstGeom prst="rect">
            <a:avLst/>
          </a:prstGeom>
          <a:solidFill>
            <a:srgbClr val="CC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4688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76BC4"/>
                </a:solidFill>
                <a:latin typeface="Calibri"/>
              </a:rPr>
              <a:t>@Output + EventEmitter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852928"/>
            <a:ext cx="53035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2F2A2A"/>
                </a:solidFill>
                <a:latin typeface="Calibri"/>
              </a:rPr>
              <a:t>Los componentes hijos notifican a app.ts mediante @Output navigate.
app.ts recibe el evento, actualiza vistaActual y puede pasar datos como @Input al componente destino.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794760"/>
            <a:ext cx="5577840" cy="128016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8862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7A6000"/>
                </a:solidFill>
                <a:latin typeface="Calibri"/>
              </a:rPr>
              <a:t>localStorage para sesión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270248"/>
            <a:ext cx="53035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2F2A2A"/>
                </a:solidFill>
                <a:latin typeface="Calibri"/>
              </a:rPr>
              <a:t>No hay AuthService centralizado. Cada componente lee token y usuario directamente de localStorage.
Esto es simple y funcional para este proyecto; en apps más grandes se centralizaría en un servicio.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960120"/>
            <a:ext cx="5577840" cy="1280160"/>
          </a:xfrm>
          <a:prstGeom prst="rect">
            <a:avLst/>
          </a:prstGeom>
          <a:solidFill>
            <a:srgbClr val="D5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0515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89056"/>
                </a:solidFill>
                <a:latin typeface="Calibri"/>
              </a:rPr>
              <a:t>ChangeDetectorRef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435608"/>
            <a:ext cx="53035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2F2A2A"/>
                </a:solidFill>
                <a:latin typeface="Calibri"/>
              </a:rPr>
              <a:t>Se usa cdr.detectChanges() en componentes donde Angular no detecta cambios automáticamente,
como cuando se actualiza un array dentro de un callback HTTP asíncrono.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2377440"/>
            <a:ext cx="5577840" cy="1280160"/>
          </a:xfrm>
          <a:prstGeom prst="rect">
            <a:avLst/>
          </a:prstGeom>
          <a:solidFill>
            <a:srgbClr val="E2D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4688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6F42C1"/>
                </a:solidFill>
                <a:latin typeface="Calibri"/>
              </a:rPr>
              <a:t>Headers manuales por petición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852928"/>
            <a:ext cx="53035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2F2A2A"/>
                </a:solidFill>
                <a:latin typeface="Calibri"/>
              </a:rPr>
              <a:t>Cada componente construye sus headers manualmente con el token de localStorage.
No hay interceptores HTTP globales — más repetitivo pero más fácil de seguir y depurar.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794760"/>
            <a:ext cx="5577840" cy="1280160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8862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C0392B"/>
                </a:solidFill>
                <a:latin typeface="Calibri"/>
              </a:rPr>
              <a:t>Datos Mock pendientes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270248"/>
            <a:ext cx="53035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2F2A2A"/>
                </a:solidFill>
                <a:latin typeface="Calibri"/>
              </a:rPr>
              <a:t>Cuatro componentes usan datos hardcodeados mientras se conectan al backend:
detalle-citas, perfil-estilista, resenas, resenas-estilista y reportes-admin.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FD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B6F75"/>
                </a:solidFill>
                <a:latin typeface="Calibri"/>
              </a:rPr>
              <a:t>PonteGuapa — Manual Técnico Frontend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B6F75"/>
                </a:solidFill>
                <a:latin typeface="Calibri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F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88952" cy="2560320"/>
          </a:xfrm>
          <a:prstGeom prst="rect">
            <a:avLst/>
          </a:prstGeom>
          <a:solidFill>
            <a:srgbClr val="8C4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88952" cy="109728"/>
          </a:xfrm>
          <a:prstGeom prst="rect">
            <a:avLst/>
          </a:prstGeom>
          <a:solidFill>
            <a:srgbClr val="D8A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PonteGuapa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D8A7B1"/>
                </a:solidFill>
                <a:latin typeface="Calibri"/>
              </a:rPr>
              <a:t>Frontend — Angular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30 componentes  ·  3 roles  ·  45+ endpoints consumidos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0D5DA"/>
                </a:solidFill>
                <a:latin typeface="Calibri"/>
              </a:rPr>
              <a:t>SPA con navegación condicional — sin Angular Router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8A7B1"/>
                </a:solidFill>
                <a:latin typeface="Calibri"/>
              </a:rPr>
              <a:t>HttpClient · localStorage · EventEmitter · ChangeDetectorRef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0292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B6F75"/>
                </a:solidFill>
                <a:latin typeface="Calibri"/>
              </a:rPr>
              <a:t>Pendiente: conectar resenas, detalle-citas, perfil-estilista y reportes-admin al 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B6F75"/>
                </a:solidFill>
                <a:latin typeface="Calibri"/>
              </a:rPr>
              <a:t>© 2026 PonteGuapa — Todos los derechos reservados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