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39" y="466344"/>
            <a:ext cx="1883664" cy="3132734"/>
          </a:xfrm>
          <a:prstGeom prst="rect">
            <a:avLst/>
          </a:prstGeom>
          <a:solidFill>
            <a:srgbClr val="E8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21408" y="466344"/>
            <a:ext cx="1883664" cy="4833518"/>
          </a:xfrm>
          <a:prstGeom prst="rect">
            <a:avLst/>
          </a:prstGeom>
          <a:solidFill>
            <a:srgbClr val="E8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51375" y="466344"/>
            <a:ext cx="1883664" cy="2286000"/>
          </a:xfrm>
          <a:prstGeom prst="rect">
            <a:avLst/>
          </a:prstGeom>
          <a:solidFill>
            <a:srgbClr val="FB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81343" y="466344"/>
            <a:ext cx="1883664" cy="3814876"/>
          </a:xfrm>
          <a:prstGeom prst="rect">
            <a:avLst/>
          </a:prstGeom>
          <a:solidFill>
            <a:srgbClr val="F5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11311" y="466344"/>
            <a:ext cx="1883664" cy="4153204"/>
          </a:xfrm>
          <a:prstGeom prst="rect">
            <a:avLst/>
          </a:prstGeom>
          <a:solidFill>
            <a:srgbClr val="E8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41279" y="466344"/>
            <a:ext cx="1883664" cy="5512003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88952" cy="420624"/>
          </a:xfrm>
          <a:prstGeom prst="rect">
            <a:avLst/>
          </a:prstGeom>
          <a:solidFill>
            <a:srgbClr val="2A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36576"/>
            <a:ext cx="6858000" cy="347472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PonteGuapa — Diagrama de Base de Datos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46304"/>
            <a:ext cx="100584" cy="118872"/>
          </a:xfrm>
          <a:prstGeom prst="roundRect">
            <a:avLst>
              <a:gd name="adj" fmla="val 15384"/>
            </a:avLst>
          </a:prstGeom>
          <a:solidFill>
            <a:srgbClr val="5F9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91440"/>
            <a:ext cx="804672" cy="21945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CCBBAA"/>
                </a:solidFill>
              </a:rPr>
              <a:t>Servicios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8744" y="146304"/>
            <a:ext cx="100584" cy="118872"/>
          </a:xfrm>
          <a:prstGeom prst="roundRect">
            <a:avLst>
              <a:gd name="adj" fmla="val 15384"/>
            </a:avLst>
          </a:prstGeom>
          <a:solidFill>
            <a:srgbClr val="6E7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91440"/>
            <a:ext cx="804672" cy="21945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CCBBAA"/>
                </a:solidFill>
              </a:rPr>
              <a:t>Horarios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62288" y="146304"/>
            <a:ext cx="100584" cy="118872"/>
          </a:xfrm>
          <a:prstGeom prst="roundRect">
            <a:avLst>
              <a:gd name="adj" fmla="val 15384"/>
            </a:avLst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91440"/>
            <a:ext cx="804672" cy="21945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CCBBAA"/>
                </a:solidFill>
              </a:rPr>
              <a:t>Usuarios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85832" y="146304"/>
            <a:ext cx="100584" cy="118872"/>
          </a:xfrm>
          <a:prstGeom prst="roundRect">
            <a:avLst>
              <a:gd name="adj" fmla="val 15384"/>
            </a:avLst>
          </a:prstGeom>
          <a:solidFill>
            <a:srgbClr val="9B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2992" y="91440"/>
            <a:ext cx="804672" cy="21945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CCBBAA"/>
                </a:solidFill>
              </a:rPr>
              <a:t>Citas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009376" y="146304"/>
            <a:ext cx="100584" cy="118872"/>
          </a:xfrm>
          <a:prstGeom prst="roundRect">
            <a:avLst>
              <a:gd name="adj" fmla="val 15384"/>
            </a:avLst>
          </a:prstGeom>
          <a:solidFill>
            <a:srgbClr val="5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46536" y="91440"/>
            <a:ext cx="804672" cy="21945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CCBBAA"/>
                </a:solidFill>
              </a:rPr>
              <a:t>Puntos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932919" y="146304"/>
            <a:ext cx="100584" cy="118872"/>
          </a:xfrm>
          <a:prstGeom prst="roundRect">
            <a:avLst>
              <a:gd name="adj" fmla="val 15384"/>
            </a:avLst>
          </a:prstGeom>
          <a:solidFill>
            <a:srgbClr val="7A6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0" y="91440"/>
            <a:ext cx="804672" cy="219456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CCBBAA"/>
                </a:solidFill>
              </a:rPr>
              <a:t>Comunicación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" y="475488"/>
            <a:ext cx="184708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" y="484632"/>
            <a:ext cx="173736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580" b="1">
                <a:solidFill>
                  <a:srgbClr val="5F9489"/>
                </a:solidFill>
              </a:rPr>
              <a:t>SERVICIOS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4592" y="672084"/>
            <a:ext cx="1737360" cy="0"/>
          </a:xfrm>
          <a:prstGeom prst="line">
            <a:avLst/>
          </a:prstGeom>
          <a:ln w="13970">
            <a:solidFill>
              <a:srgbClr val="5F9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139696" y="475488"/>
            <a:ext cx="184708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484632"/>
            <a:ext cx="173736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580" b="1">
                <a:solidFill>
                  <a:srgbClr val="6E7B8B"/>
                </a:solidFill>
              </a:rPr>
              <a:t>HORARIOS &amp; PROMOCIONES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94560" y="672084"/>
            <a:ext cx="1737360" cy="0"/>
          </a:xfrm>
          <a:prstGeom prst="line">
            <a:avLst/>
          </a:prstGeom>
          <a:ln w="13970">
            <a:solidFill>
              <a:srgbClr val="6E7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169663" y="475488"/>
            <a:ext cx="184708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24527" y="484632"/>
            <a:ext cx="173736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580" b="1">
                <a:solidFill>
                  <a:srgbClr val="C4956A"/>
                </a:solidFill>
              </a:rPr>
              <a:t>USUARIOS  (TABLA CENTRAL)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224527" y="672084"/>
            <a:ext cx="1737361" cy="0"/>
          </a:xfrm>
          <a:prstGeom prst="line">
            <a:avLst/>
          </a:prstGeom>
          <a:ln w="13970">
            <a:solidFill>
              <a:srgbClr val="C49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99631" y="475488"/>
            <a:ext cx="184708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5" y="484632"/>
            <a:ext cx="173736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580" b="1">
                <a:solidFill>
                  <a:srgbClr val="9B7070"/>
                </a:solidFill>
              </a:rPr>
              <a:t>CITAS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54495" y="672084"/>
            <a:ext cx="1737360" cy="0"/>
          </a:xfrm>
          <a:prstGeom prst="line">
            <a:avLst/>
          </a:prstGeom>
          <a:ln w="13970">
            <a:solidFill>
              <a:srgbClr val="9B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229599" y="475488"/>
            <a:ext cx="184708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3" y="484632"/>
            <a:ext cx="173736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580" b="1">
                <a:solidFill>
                  <a:srgbClr val="5F8B5F"/>
                </a:solidFill>
              </a:rPr>
              <a:t>PUNTOS &amp; RESEÑAS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84463" y="672084"/>
            <a:ext cx="1737361" cy="0"/>
          </a:xfrm>
          <a:prstGeom prst="line">
            <a:avLst/>
          </a:prstGeom>
          <a:ln w="13970">
            <a:solidFill>
              <a:srgbClr val="5F8B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259567" y="475488"/>
            <a:ext cx="1847088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14431" y="484632"/>
            <a:ext cx="173736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580" b="1">
                <a:solidFill>
                  <a:srgbClr val="7A6A9B"/>
                </a:solidFill>
              </a:rPr>
              <a:t>RECOMPENSAS &amp; NOTIFIC.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314431" y="672084"/>
            <a:ext cx="1737360" cy="0"/>
          </a:xfrm>
          <a:prstGeom prst="line">
            <a:avLst/>
          </a:prstGeom>
          <a:ln w="13970">
            <a:solidFill>
              <a:srgbClr val="7A6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64592" y="722376"/>
            <a:ext cx="1737360" cy="747979"/>
          </a:xfrm>
          <a:prstGeom prst="roundRect">
            <a:avLst>
              <a:gd name="adj" fmla="val 3684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4592" y="722376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5F9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4592" y="829360"/>
            <a:ext cx="1737360" cy="133136"/>
          </a:xfrm>
          <a:prstGeom prst="rect">
            <a:avLst/>
          </a:prstGeom>
          <a:solidFill>
            <a:srgbClr val="5F9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2" y="722376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especialidades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3736" y="96012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164592" y="960120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19456" y="96012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64592" y="1130198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9456" y="113019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nombre  VARCHAR(100)  UNIQUE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3736" y="1300276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64592" y="1300276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19456" y="1300276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activa  TINYINT  default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4592" y="1570939"/>
            <a:ext cx="1737360" cy="577900"/>
          </a:xfrm>
          <a:prstGeom prst="roundRect">
            <a:avLst>
              <a:gd name="adj" fmla="val 3684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64592" y="1570939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5F9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4592" y="1677924"/>
            <a:ext cx="1737360" cy="133136"/>
          </a:xfrm>
          <a:prstGeom prst="rect">
            <a:avLst/>
          </a:prstGeom>
          <a:solidFill>
            <a:srgbClr val="5F9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4592" y="1570939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empleado_especialidades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3736" y="1808683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64592" y="1808683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19456" y="1808683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empleado_id  FK → usuarios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64592" y="1978761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19456" y="1978761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especialidad_id  FK → especialidades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4592" y="2249424"/>
            <a:ext cx="1737360" cy="1258214"/>
          </a:xfrm>
          <a:prstGeom prst="roundRect">
            <a:avLst>
              <a:gd name="adj" fmla="val 3684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64592" y="2249424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5F9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64592" y="2356408"/>
            <a:ext cx="1737360" cy="133136"/>
          </a:xfrm>
          <a:prstGeom prst="rect">
            <a:avLst/>
          </a:prstGeom>
          <a:solidFill>
            <a:srgbClr val="5F9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4592" y="2249424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servicios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3736" y="2487168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64592" y="2487168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19456" y="248716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64592" y="2657246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19456" y="2657246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nombre  VARCHAR(150)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3736" y="2827324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164592" y="2827324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19456" y="2827324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duracion_minutos  INT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64592" y="2997403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19456" y="2997403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precio  DECIMAL(10,2)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73736" y="3167481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164592" y="3167481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19456" y="3167481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activo  TINYINT  default 1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64592" y="3337559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19456" y="3337559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especialidad_id  FK → especialidades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94560" y="722376"/>
            <a:ext cx="1737360" cy="1768449"/>
          </a:xfrm>
          <a:prstGeom prst="roundRect">
            <a:avLst>
              <a:gd name="adj" fmla="val 3619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194560" y="722376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5F9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194560" y="829360"/>
            <a:ext cx="1737360" cy="133136"/>
          </a:xfrm>
          <a:prstGeom prst="rect">
            <a:avLst/>
          </a:prstGeom>
          <a:solidFill>
            <a:srgbClr val="5F9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94560" y="722376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promociones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03703" y="96012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2194560" y="960120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2249424" y="96012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194560" y="1130198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2249424" y="113019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titulo  VARCHAR(200)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03703" y="1300276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2194560" y="1300276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2249424" y="1300276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precio_especial  DECIMAL(10,2)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194560" y="1470355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249424" y="1470355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fecha_inicio  DATE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203703" y="1640433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2194560" y="1640433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2249424" y="1640433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fecha_fin  DATE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194560" y="1810512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249424" y="1810512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limite_usos  INT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03703" y="198059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2194560" y="1980590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2249424" y="198059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usos_actuales  INT  default 0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2194560" y="2150668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249424" y="215066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activo  TINYINT  default 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03703" y="2320747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2194560" y="2320747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2249424" y="2320747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servicio_id  FK → servicios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194560" y="2591409"/>
            <a:ext cx="1737360" cy="1428292"/>
          </a:xfrm>
          <a:prstGeom prst="roundRect">
            <a:avLst>
              <a:gd name="adj" fmla="val 3684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194560" y="2591409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6E7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194560" y="2698394"/>
            <a:ext cx="1737360" cy="133136"/>
          </a:xfrm>
          <a:prstGeom prst="rect">
            <a:avLst/>
          </a:prstGeom>
          <a:solidFill>
            <a:srgbClr val="6E7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94560" y="2591409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empleados_horarios_semana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203703" y="2829153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194560" y="2829153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2249424" y="2829153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2194560" y="2999232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249424" y="2999232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empleado_id  FK → usuarios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203703" y="316931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2194560" y="3169310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49424" y="316931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semana_inicio  DATE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2194560" y="3339388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249424" y="333938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dia_semana  VARCHAR(10)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203703" y="3509467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2194560" y="3509467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2249424" y="3509467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hora_inicio  TIME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2194560" y="3679545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2249424" y="3679545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hora_fin  TIME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203703" y="3849624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2194560" y="3849624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2249424" y="3849624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es_descanso  TINYINT  default 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194560" y="4120286"/>
            <a:ext cx="1737360" cy="1088136"/>
          </a:xfrm>
          <a:prstGeom prst="roundRect">
            <a:avLst>
              <a:gd name="adj" fmla="val 3684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194560" y="4120286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6E7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194560" y="4227271"/>
            <a:ext cx="1737360" cy="133136"/>
          </a:xfrm>
          <a:prstGeom prst="rect">
            <a:avLst/>
          </a:prstGeom>
          <a:solidFill>
            <a:srgbClr val="6E7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194560" y="4120286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dias_bloqueados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203703" y="435803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2194560" y="4358030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2249424" y="435803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2194560" y="4528108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2249424" y="452810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fecha  DATE  UNIQUE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203703" y="4698187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2194560" y="4698187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2249424" y="4698187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tipo  ENUM  cerrado/especial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2194560" y="4868265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2249424" y="4868265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hora_inicio  /  hora_fin  TIME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203703" y="5038344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>
            <a:off x="2194560" y="5038344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2249424" y="5038344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motivo  VARCHAR(255)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224527" y="722376"/>
            <a:ext cx="1737360" cy="1938528"/>
          </a:xfrm>
          <a:prstGeom prst="roundRect">
            <a:avLst>
              <a:gd name="adj" fmla="val 3301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224527" y="722376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224527" y="829360"/>
            <a:ext cx="1737360" cy="133136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224527" y="722376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usuarios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233671" y="96012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>
            <a:off x="4224527" y="960120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4279391" y="96012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4224527" y="1130198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4279391" y="113019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nombre  VARCHAR(150)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233671" y="1300276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>
            <a:off x="4224527" y="1300276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4279391" y="1300276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email  VARCHAR(150)  UNIQUE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4224527" y="1470355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4279391" y="1470355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telefono  VARCHAR(20)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233671" y="1640433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4224527" y="1640433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4279391" y="1640433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rol  ENUM  admin / estilista / cliente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4224527" y="1810512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4279391" y="1810512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activo  TINYINT  default 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233671" y="198059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7" name="Connector 166"/>
          <p:cNvCxnSpPr/>
          <p:nvPr/>
        </p:nvCxnSpPr>
        <p:spPr>
          <a:xfrm>
            <a:off x="4224527" y="1980590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4279391" y="198059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requiere_cambio_pwd  TINYINT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4224527" y="2150668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4279391" y="215066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fecha_nacimiento  DATE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233671" y="2320747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>
            <a:off x="4224527" y="2320747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4279391" y="2320747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avatar  VARCHAR(500)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4224527" y="2490825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4279391" y="2490825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created_at  TIMESTAMP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254495" y="722376"/>
            <a:ext cx="1737360" cy="2448763"/>
          </a:xfrm>
          <a:prstGeom prst="roundRect">
            <a:avLst>
              <a:gd name="adj" fmla="val 2613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254495" y="722376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9B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254495" y="829360"/>
            <a:ext cx="1737360" cy="133136"/>
          </a:xfrm>
          <a:prstGeom prst="rect">
            <a:avLst/>
          </a:prstGeom>
          <a:solidFill>
            <a:srgbClr val="9B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254495" y="722376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citas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263639" y="96012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>
            <a:off x="6254495" y="960120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6309359" y="96012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6254495" y="1130198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6309359" y="113019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cliente_id  FK → usuarios  nullable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263639" y="1300276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6" name="Connector 185"/>
          <p:cNvCxnSpPr/>
          <p:nvPr/>
        </p:nvCxnSpPr>
        <p:spPr>
          <a:xfrm>
            <a:off x="6254495" y="1300276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6309359" y="1300276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cliente_externo_nombre  VARCHAR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6254495" y="1470355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6309359" y="1470355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cliente_externo_telefono  VARCHAR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263639" y="1640433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>
            <a:off x="6254495" y="1640433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6309359" y="1640433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estilista_id  FK → usuarios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6254495" y="1810512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6309359" y="1810512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fecha  DATE  /  hora  TIME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263639" y="198059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6" name="Connector 195"/>
          <p:cNvCxnSpPr/>
          <p:nvPr/>
        </p:nvCxnSpPr>
        <p:spPr>
          <a:xfrm>
            <a:off x="6254495" y="1980590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6309359" y="198059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estado  ENUM  pendiente/confirmada/...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6254495" y="2150668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6309359" y="215066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precio_total  DECIMAL(10,2)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6263639" y="2320747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>
            <a:off x="6254495" y="2320747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6309359" y="2320747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motivo_cancelacion  TEXT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6254495" y="2490825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6309359" y="2490825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resena_disponible_hasta  DATETIME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263639" y="2660904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6" name="Connector 205"/>
          <p:cNvCxnSpPr/>
          <p:nvPr/>
        </p:nvCxnSpPr>
        <p:spPr>
          <a:xfrm>
            <a:off x="6254495" y="2660904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6309359" y="2660904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recordatorio_12h  TINYINT  default 0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6254495" y="2830982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TextBox 208"/>
          <p:cNvSpPr txBox="1"/>
          <p:nvPr/>
        </p:nvSpPr>
        <p:spPr>
          <a:xfrm>
            <a:off x="6309359" y="2830982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recordatorio_2h  TINYINT  default 0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63639" y="300106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>
            <a:off x="6254495" y="3001060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TextBox 211"/>
          <p:cNvSpPr txBox="1"/>
          <p:nvPr/>
        </p:nvSpPr>
        <p:spPr>
          <a:xfrm>
            <a:off x="6309359" y="300106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created_at  TIMESTAMP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254495" y="3271723"/>
            <a:ext cx="1737360" cy="918057"/>
          </a:xfrm>
          <a:prstGeom prst="roundRect">
            <a:avLst>
              <a:gd name="adj" fmla="val 3684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54495" y="3271723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9B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254495" y="3378708"/>
            <a:ext cx="1737360" cy="133136"/>
          </a:xfrm>
          <a:prstGeom prst="rect">
            <a:avLst/>
          </a:prstGeom>
          <a:solidFill>
            <a:srgbClr val="9B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254495" y="3271723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citas_servicios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263639" y="3509467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>
            <a:off x="6254495" y="3509467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TextBox 218"/>
          <p:cNvSpPr txBox="1"/>
          <p:nvPr/>
        </p:nvSpPr>
        <p:spPr>
          <a:xfrm>
            <a:off x="6309359" y="3509467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220" name="Connector 219"/>
          <p:cNvCxnSpPr/>
          <p:nvPr/>
        </p:nvCxnSpPr>
        <p:spPr>
          <a:xfrm>
            <a:off x="6254495" y="3679545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TextBox 220"/>
          <p:cNvSpPr txBox="1"/>
          <p:nvPr/>
        </p:nvSpPr>
        <p:spPr>
          <a:xfrm>
            <a:off x="6309359" y="3679545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cita_id  FK → citas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6263639" y="3849624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3" name="Connector 222"/>
          <p:cNvCxnSpPr/>
          <p:nvPr/>
        </p:nvCxnSpPr>
        <p:spPr>
          <a:xfrm>
            <a:off x="6254495" y="3849624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TextBox 223"/>
          <p:cNvSpPr txBox="1"/>
          <p:nvPr/>
        </p:nvSpPr>
        <p:spPr>
          <a:xfrm>
            <a:off x="6309359" y="3849624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servicio_id  FK → servicios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6254495" y="4019702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/>
          <p:cNvSpPr txBox="1"/>
          <p:nvPr/>
        </p:nvSpPr>
        <p:spPr>
          <a:xfrm>
            <a:off x="6309359" y="4019702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precio_momento  DECIMAL(10,2)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284463" y="722376"/>
            <a:ext cx="1737360" cy="747979"/>
          </a:xfrm>
          <a:prstGeom prst="roundRect">
            <a:avLst>
              <a:gd name="adj" fmla="val 3684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284463" y="722376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5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284463" y="829360"/>
            <a:ext cx="1737360" cy="133136"/>
          </a:xfrm>
          <a:prstGeom prst="rect">
            <a:avLst/>
          </a:prstGeom>
          <a:solidFill>
            <a:srgbClr val="5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284463" y="722376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puntos_usuario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8293607" y="96012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8284463" y="960120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8339327" y="96012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8284463" y="1130198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8339327" y="113019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usuario_id  FK → usuarios  UNIQUE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8293607" y="1300276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7" name="Connector 236"/>
          <p:cNvCxnSpPr/>
          <p:nvPr/>
        </p:nvCxnSpPr>
        <p:spPr>
          <a:xfrm>
            <a:off x="8284463" y="1300276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8339327" y="1300276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puntos  INT  default 0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8284463" y="1570939"/>
            <a:ext cx="1737360" cy="1428292"/>
          </a:xfrm>
          <a:prstGeom prst="roundRect">
            <a:avLst>
              <a:gd name="adj" fmla="val 3684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8284463" y="1570939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5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8284463" y="1677924"/>
            <a:ext cx="1737360" cy="133136"/>
          </a:xfrm>
          <a:prstGeom prst="rect">
            <a:avLst/>
          </a:prstGeom>
          <a:solidFill>
            <a:srgbClr val="5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8284463" y="1570939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historial_puntos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293607" y="1808683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8284463" y="1808683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TextBox 244"/>
          <p:cNvSpPr txBox="1"/>
          <p:nvPr/>
        </p:nvSpPr>
        <p:spPr>
          <a:xfrm>
            <a:off x="8339327" y="1808683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246" name="Connector 245"/>
          <p:cNvCxnSpPr/>
          <p:nvPr/>
        </p:nvCxnSpPr>
        <p:spPr>
          <a:xfrm>
            <a:off x="8284463" y="1978761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339327" y="1978761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usuario_id  FK → usuarios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293607" y="214884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9" name="Connector 248"/>
          <p:cNvCxnSpPr/>
          <p:nvPr/>
        </p:nvCxnSpPr>
        <p:spPr>
          <a:xfrm>
            <a:off x="8284463" y="2148840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8339327" y="214884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cita_id  FK → citas  nullable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8284463" y="2318918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8339327" y="231891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puntos  INT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8293607" y="2488996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Connector 253"/>
          <p:cNvCxnSpPr/>
          <p:nvPr/>
        </p:nvCxnSpPr>
        <p:spPr>
          <a:xfrm>
            <a:off x="8284463" y="2488996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8339327" y="2488996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tipo  ENUM  ganados / canjeados</a:t>
            </a:r>
          </a:p>
        </p:txBody>
      </p:sp>
      <p:cxnSp>
        <p:nvCxnSpPr>
          <p:cNvPr id="256" name="Connector 255"/>
          <p:cNvCxnSpPr/>
          <p:nvPr/>
        </p:nvCxnSpPr>
        <p:spPr>
          <a:xfrm>
            <a:off x="8284463" y="2659075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TextBox 256"/>
          <p:cNvSpPr txBox="1"/>
          <p:nvPr/>
        </p:nvSpPr>
        <p:spPr>
          <a:xfrm>
            <a:off x="8339327" y="2659075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descripcion  VARCHAR(255)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293607" y="2829153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Connector 258"/>
          <p:cNvCxnSpPr/>
          <p:nvPr/>
        </p:nvCxnSpPr>
        <p:spPr>
          <a:xfrm>
            <a:off x="8284463" y="2829153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/>
          <p:cNvSpPr txBox="1"/>
          <p:nvPr/>
        </p:nvSpPr>
        <p:spPr>
          <a:xfrm>
            <a:off x="8339327" y="2829153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created_at  TIMESTAMP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8284463" y="3099816"/>
            <a:ext cx="1737360" cy="1428292"/>
          </a:xfrm>
          <a:prstGeom prst="roundRect">
            <a:avLst>
              <a:gd name="adj" fmla="val 3684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8284463" y="3099816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7A6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8284463" y="3206800"/>
            <a:ext cx="1737360" cy="133136"/>
          </a:xfrm>
          <a:prstGeom prst="rect">
            <a:avLst/>
          </a:prstGeom>
          <a:solidFill>
            <a:srgbClr val="7A6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8284463" y="3099816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resenas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8293607" y="333756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6" name="Connector 265"/>
          <p:cNvCxnSpPr/>
          <p:nvPr/>
        </p:nvCxnSpPr>
        <p:spPr>
          <a:xfrm>
            <a:off x="8284463" y="3337560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8339327" y="333756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268" name="Connector 267"/>
          <p:cNvCxnSpPr/>
          <p:nvPr/>
        </p:nvCxnSpPr>
        <p:spPr>
          <a:xfrm>
            <a:off x="8284463" y="3507638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/>
          <p:cNvSpPr txBox="1"/>
          <p:nvPr/>
        </p:nvSpPr>
        <p:spPr>
          <a:xfrm>
            <a:off x="8339327" y="350763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cita_id  FK → citas  UNIQUE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8293607" y="3677716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>
            <a:off x="8284463" y="3677716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TextBox 271"/>
          <p:cNvSpPr txBox="1"/>
          <p:nvPr/>
        </p:nvSpPr>
        <p:spPr>
          <a:xfrm>
            <a:off x="8339327" y="3677716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cliente_id  FK → usuarios</a:t>
            </a:r>
          </a:p>
        </p:txBody>
      </p:sp>
      <p:cxnSp>
        <p:nvCxnSpPr>
          <p:cNvPr id="273" name="Connector 272"/>
          <p:cNvCxnSpPr/>
          <p:nvPr/>
        </p:nvCxnSpPr>
        <p:spPr>
          <a:xfrm>
            <a:off x="8284463" y="3847795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TextBox 273"/>
          <p:cNvSpPr txBox="1"/>
          <p:nvPr/>
        </p:nvSpPr>
        <p:spPr>
          <a:xfrm>
            <a:off x="8339327" y="3847795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estilista_id  FK → usuarios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293607" y="4017873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>
            <a:off x="8284463" y="4017873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8339327" y="4017873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puntuacion  TINYINT  1–5</a:t>
            </a:r>
          </a:p>
        </p:txBody>
      </p:sp>
      <p:cxnSp>
        <p:nvCxnSpPr>
          <p:cNvPr id="278" name="Connector 277"/>
          <p:cNvCxnSpPr/>
          <p:nvPr/>
        </p:nvCxnSpPr>
        <p:spPr>
          <a:xfrm>
            <a:off x="8284463" y="4187952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8339327" y="4187952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comentario  TEXT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8293607" y="435803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1" name="Connector 280"/>
          <p:cNvCxnSpPr/>
          <p:nvPr/>
        </p:nvCxnSpPr>
        <p:spPr>
          <a:xfrm>
            <a:off x="8284463" y="4358030"/>
            <a:ext cx="1737361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281"/>
          <p:cNvSpPr txBox="1"/>
          <p:nvPr/>
        </p:nvSpPr>
        <p:spPr>
          <a:xfrm>
            <a:off x="8339327" y="435803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created_at  TIMESTAMP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10314431" y="722376"/>
            <a:ext cx="1737360" cy="918057"/>
          </a:xfrm>
          <a:prstGeom prst="roundRect">
            <a:avLst>
              <a:gd name="adj" fmla="val 3684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0314431" y="722376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5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314431" y="829360"/>
            <a:ext cx="1737360" cy="133136"/>
          </a:xfrm>
          <a:prstGeom prst="rect">
            <a:avLst/>
          </a:prstGeom>
          <a:solidFill>
            <a:srgbClr val="5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0314431" y="722376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catalogo_recompensas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10323575" y="96012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8" name="Connector 287"/>
          <p:cNvCxnSpPr/>
          <p:nvPr/>
        </p:nvCxnSpPr>
        <p:spPr>
          <a:xfrm>
            <a:off x="10314431" y="960120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TextBox 288"/>
          <p:cNvSpPr txBox="1"/>
          <p:nvPr/>
        </p:nvSpPr>
        <p:spPr>
          <a:xfrm>
            <a:off x="10369295" y="96012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290" name="Connector 289"/>
          <p:cNvCxnSpPr/>
          <p:nvPr/>
        </p:nvCxnSpPr>
        <p:spPr>
          <a:xfrm>
            <a:off x="10314431" y="1130198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10369295" y="113019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nombre  VARCHAR(200)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323575" y="1300276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3" name="Connector 292"/>
          <p:cNvCxnSpPr/>
          <p:nvPr/>
        </p:nvCxnSpPr>
        <p:spPr>
          <a:xfrm>
            <a:off x="10314431" y="1300276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10369295" y="1300276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puntos_requeridos  INT</a:t>
            </a:r>
          </a:p>
        </p:txBody>
      </p:sp>
      <p:cxnSp>
        <p:nvCxnSpPr>
          <p:cNvPr id="295" name="Connector 294"/>
          <p:cNvCxnSpPr/>
          <p:nvPr/>
        </p:nvCxnSpPr>
        <p:spPr>
          <a:xfrm>
            <a:off x="10314431" y="1470355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10369295" y="1470355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activo  TINYINT  default 1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10314431" y="1741017"/>
            <a:ext cx="1737360" cy="918057"/>
          </a:xfrm>
          <a:prstGeom prst="roundRect">
            <a:avLst>
              <a:gd name="adj" fmla="val 3684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314431" y="1741017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5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314431" y="1848002"/>
            <a:ext cx="1737360" cy="133136"/>
          </a:xfrm>
          <a:prstGeom prst="rect">
            <a:avLst/>
          </a:prstGeom>
          <a:solidFill>
            <a:srgbClr val="5F8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0314431" y="1741017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canjes_recompensas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10323575" y="1978761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2" name="Connector 301"/>
          <p:cNvCxnSpPr/>
          <p:nvPr/>
        </p:nvCxnSpPr>
        <p:spPr>
          <a:xfrm>
            <a:off x="10314431" y="1978761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TextBox 302"/>
          <p:cNvSpPr txBox="1"/>
          <p:nvPr/>
        </p:nvSpPr>
        <p:spPr>
          <a:xfrm>
            <a:off x="10369295" y="1978761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10314431" y="2148840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TextBox 304"/>
          <p:cNvSpPr txBox="1"/>
          <p:nvPr/>
        </p:nvSpPr>
        <p:spPr>
          <a:xfrm>
            <a:off x="10369295" y="214884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usuario_id  FK → usuarios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323575" y="2318918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7" name="Connector 306"/>
          <p:cNvCxnSpPr/>
          <p:nvPr/>
        </p:nvCxnSpPr>
        <p:spPr>
          <a:xfrm>
            <a:off x="10314431" y="2318918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TextBox 307"/>
          <p:cNvSpPr txBox="1"/>
          <p:nvPr/>
        </p:nvSpPr>
        <p:spPr>
          <a:xfrm>
            <a:off x="10369295" y="231891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recompensa_id  FK → catalogo_recompensas</a:t>
            </a:r>
          </a:p>
        </p:txBody>
      </p:sp>
      <p:cxnSp>
        <p:nvCxnSpPr>
          <p:cNvPr id="309" name="Connector 308"/>
          <p:cNvCxnSpPr/>
          <p:nvPr/>
        </p:nvCxnSpPr>
        <p:spPr>
          <a:xfrm>
            <a:off x="10314431" y="2488996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TextBox 309"/>
          <p:cNvSpPr txBox="1"/>
          <p:nvPr/>
        </p:nvSpPr>
        <p:spPr>
          <a:xfrm>
            <a:off x="10369295" y="2488996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created_at  TIMESTAMP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0314431" y="2759659"/>
            <a:ext cx="1737360" cy="1598371"/>
          </a:xfrm>
          <a:prstGeom prst="roundRect">
            <a:avLst>
              <a:gd name="adj" fmla="val 3684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314431" y="2759659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7A6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314431" y="2866644"/>
            <a:ext cx="1737360" cy="133136"/>
          </a:xfrm>
          <a:prstGeom prst="rect">
            <a:avLst/>
          </a:prstGeom>
          <a:solidFill>
            <a:srgbClr val="7A6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0314431" y="2759659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notificaciones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10323575" y="2997403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6" name="Connector 315"/>
          <p:cNvCxnSpPr/>
          <p:nvPr/>
        </p:nvCxnSpPr>
        <p:spPr>
          <a:xfrm>
            <a:off x="10314431" y="2997403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10369295" y="2997403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318" name="Connector 317"/>
          <p:cNvCxnSpPr/>
          <p:nvPr/>
        </p:nvCxnSpPr>
        <p:spPr>
          <a:xfrm>
            <a:off x="10314431" y="3167481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TextBox 318"/>
          <p:cNvSpPr txBox="1"/>
          <p:nvPr/>
        </p:nvSpPr>
        <p:spPr>
          <a:xfrm>
            <a:off x="10369295" y="3167481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usuario_id  FK → usuarios  (admin)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323575" y="3337560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1" name="Connector 320"/>
          <p:cNvCxnSpPr/>
          <p:nvPr/>
        </p:nvCxnSpPr>
        <p:spPr>
          <a:xfrm>
            <a:off x="10314431" y="3337560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TextBox 321"/>
          <p:cNvSpPr txBox="1"/>
          <p:nvPr/>
        </p:nvSpPr>
        <p:spPr>
          <a:xfrm>
            <a:off x="10369295" y="333756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titulo  VARCHAR(255)</a:t>
            </a:r>
          </a:p>
        </p:txBody>
      </p:sp>
      <p:cxnSp>
        <p:nvCxnSpPr>
          <p:cNvPr id="323" name="Connector 322"/>
          <p:cNvCxnSpPr/>
          <p:nvPr/>
        </p:nvCxnSpPr>
        <p:spPr>
          <a:xfrm>
            <a:off x="10314431" y="3507638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TextBox 323"/>
          <p:cNvSpPr txBox="1"/>
          <p:nvPr/>
        </p:nvSpPr>
        <p:spPr>
          <a:xfrm>
            <a:off x="10369295" y="350763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mensaje  TEXT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10323575" y="3677716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10314431" y="3677716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TextBox 326"/>
          <p:cNvSpPr txBox="1"/>
          <p:nvPr/>
        </p:nvSpPr>
        <p:spPr>
          <a:xfrm>
            <a:off x="10369295" y="3677716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tipo  ENUM  sistema / recordatorio</a:t>
            </a:r>
          </a:p>
        </p:txBody>
      </p:sp>
      <p:cxnSp>
        <p:nvCxnSpPr>
          <p:cNvPr id="328" name="Connector 327"/>
          <p:cNvCxnSpPr/>
          <p:nvPr/>
        </p:nvCxnSpPr>
        <p:spPr>
          <a:xfrm>
            <a:off x="10314431" y="3847795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/>
          <p:cNvSpPr txBox="1"/>
          <p:nvPr/>
        </p:nvSpPr>
        <p:spPr>
          <a:xfrm>
            <a:off x="10369295" y="3847795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destinatarios  VARCHAR(200)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10323575" y="4017873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10314431" y="4017873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TextBox 331"/>
          <p:cNvSpPr txBox="1"/>
          <p:nvPr/>
        </p:nvSpPr>
        <p:spPr>
          <a:xfrm>
            <a:off x="10369295" y="4017873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enviados  INT  default 0</a:t>
            </a:r>
          </a:p>
        </p:txBody>
      </p:sp>
      <p:cxnSp>
        <p:nvCxnSpPr>
          <p:cNvPr id="333" name="Connector 332"/>
          <p:cNvCxnSpPr/>
          <p:nvPr/>
        </p:nvCxnSpPr>
        <p:spPr>
          <a:xfrm>
            <a:off x="10314431" y="4187952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4" name="TextBox 333"/>
          <p:cNvSpPr txBox="1"/>
          <p:nvPr/>
        </p:nvSpPr>
        <p:spPr>
          <a:xfrm>
            <a:off x="10369295" y="4187952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created_at  TIMESTAMP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0314431" y="4458614"/>
            <a:ext cx="1737360" cy="1428292"/>
          </a:xfrm>
          <a:prstGeom prst="roundRect">
            <a:avLst>
              <a:gd name="adj" fmla="val 3684"/>
            </a:avLst>
          </a:prstGeom>
          <a:solidFill>
            <a:srgbClr val="FEFCF8"/>
          </a:solidFill>
          <a:ln w="8255">
            <a:solidFill>
              <a:srgbClr val="C9B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314431" y="4458614"/>
            <a:ext cx="1737360" cy="237744"/>
          </a:xfrm>
          <a:prstGeom prst="roundRect">
            <a:avLst>
              <a:gd name="adj" fmla="val 3684"/>
            </a:avLst>
          </a:prstGeom>
          <a:solidFill>
            <a:srgbClr val="7A6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314431" y="4565599"/>
            <a:ext cx="1737360" cy="133136"/>
          </a:xfrm>
          <a:prstGeom prst="rect">
            <a:avLst/>
          </a:prstGeom>
          <a:solidFill>
            <a:srgbClr val="7A6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10314431" y="4458614"/>
            <a:ext cx="1737360" cy="23774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notificaciones_estilista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10323575" y="4696358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10314431" y="4696358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1" name="TextBox 340"/>
          <p:cNvSpPr txBox="1"/>
          <p:nvPr/>
        </p:nvSpPr>
        <p:spPr>
          <a:xfrm>
            <a:off x="10369295" y="469635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1">
                <a:solidFill>
                  <a:srgbClr val="7A5020"/>
                </a:solidFill>
              </a:rPr>
              <a:t>▸ id  INT  AUTO_INCREMENT</a:t>
            </a:r>
          </a:p>
        </p:txBody>
      </p:sp>
      <p:cxnSp>
        <p:nvCxnSpPr>
          <p:cNvPr id="342" name="Connector 341"/>
          <p:cNvCxnSpPr/>
          <p:nvPr/>
        </p:nvCxnSpPr>
        <p:spPr>
          <a:xfrm>
            <a:off x="10314431" y="4866436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/>
          <p:cNvSpPr txBox="1"/>
          <p:nvPr/>
        </p:nvSpPr>
        <p:spPr>
          <a:xfrm>
            <a:off x="10369295" y="4866436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060A0"/>
                </a:solidFill>
              </a:rPr>
              <a:t>⤷ estilista_id  FK → usuarios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10323575" y="5036515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10314431" y="5036515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TextBox 345"/>
          <p:cNvSpPr txBox="1"/>
          <p:nvPr/>
        </p:nvSpPr>
        <p:spPr>
          <a:xfrm>
            <a:off x="10369295" y="5036515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tipo  ENUM  nueva / cancelada / conf.</a:t>
            </a:r>
          </a:p>
        </p:txBody>
      </p:sp>
      <p:cxnSp>
        <p:nvCxnSpPr>
          <p:cNvPr id="347" name="Connector 346"/>
          <p:cNvCxnSpPr/>
          <p:nvPr/>
        </p:nvCxnSpPr>
        <p:spPr>
          <a:xfrm>
            <a:off x="10314431" y="5206593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TextBox 347"/>
          <p:cNvSpPr txBox="1"/>
          <p:nvPr/>
        </p:nvSpPr>
        <p:spPr>
          <a:xfrm>
            <a:off x="10369295" y="5206593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titulo  VARCHAR(255)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10323575" y="5376672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0" name="Connector 349"/>
          <p:cNvCxnSpPr/>
          <p:nvPr/>
        </p:nvCxnSpPr>
        <p:spPr>
          <a:xfrm>
            <a:off x="10314431" y="5376672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TextBox 350"/>
          <p:cNvSpPr txBox="1"/>
          <p:nvPr/>
        </p:nvSpPr>
        <p:spPr>
          <a:xfrm>
            <a:off x="10369295" y="5376672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mensaje  TEXT</a:t>
            </a:r>
          </a:p>
        </p:txBody>
      </p:sp>
      <p:cxnSp>
        <p:nvCxnSpPr>
          <p:cNvPr id="352" name="Connector 351"/>
          <p:cNvCxnSpPr/>
          <p:nvPr/>
        </p:nvCxnSpPr>
        <p:spPr>
          <a:xfrm>
            <a:off x="10314431" y="5546750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" name="TextBox 352"/>
          <p:cNvSpPr txBox="1"/>
          <p:nvPr/>
        </p:nvSpPr>
        <p:spPr>
          <a:xfrm>
            <a:off x="10369295" y="5546750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leida  TINYINT  default 0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10323575" y="5716828"/>
            <a:ext cx="1719072" cy="170078"/>
          </a:xfrm>
          <a:prstGeom prst="rect">
            <a:avLst/>
          </a:prstGeom>
          <a:solidFill>
            <a:srgbClr val="F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5" name="Connector 354"/>
          <p:cNvCxnSpPr/>
          <p:nvPr/>
        </p:nvCxnSpPr>
        <p:spPr>
          <a:xfrm>
            <a:off x="10314431" y="5716828"/>
            <a:ext cx="1737360" cy="0"/>
          </a:xfrm>
          <a:prstGeom prst="line">
            <a:avLst/>
          </a:prstGeom>
          <a:ln w="381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TextBox 355"/>
          <p:cNvSpPr txBox="1"/>
          <p:nvPr/>
        </p:nvSpPr>
        <p:spPr>
          <a:xfrm>
            <a:off x="10369295" y="5716828"/>
            <a:ext cx="1664207" cy="17007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600" b="0">
                <a:solidFill>
                  <a:srgbClr val="2A2018"/>
                </a:solidFill>
              </a:rPr>
              <a:t>  created_at  TIMESTAMP</a:t>
            </a:r>
          </a:p>
        </p:txBody>
      </p:sp>
      <p:cxnSp>
        <p:nvCxnSpPr>
          <p:cNvPr id="357" name="Connector 356"/>
          <p:cNvCxnSpPr/>
          <p:nvPr/>
        </p:nvCxnSpPr>
        <p:spPr>
          <a:xfrm>
            <a:off x="120700" y="1130198"/>
            <a:ext cx="0" cy="2207361"/>
          </a:xfrm>
          <a:prstGeom prst="line">
            <a:avLst/>
          </a:prstGeom>
          <a:ln w="12700">
            <a:solidFill>
              <a:srgbClr val="5F9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20700" y="1130198"/>
            <a:ext cx="43892" cy="0"/>
          </a:xfrm>
          <a:prstGeom prst="line">
            <a:avLst/>
          </a:prstGeom>
          <a:ln w="10160">
            <a:solidFill>
              <a:srgbClr val="5F9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120700" y="1893722"/>
            <a:ext cx="43892" cy="0"/>
          </a:xfrm>
          <a:prstGeom prst="line">
            <a:avLst/>
          </a:prstGeom>
          <a:ln w="10160">
            <a:solidFill>
              <a:srgbClr val="5F9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120700" y="3337559"/>
            <a:ext cx="43892" cy="0"/>
          </a:xfrm>
          <a:prstGeom prst="line">
            <a:avLst/>
          </a:prstGeom>
          <a:ln w="10160">
            <a:solidFill>
              <a:srgbClr val="5F9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H="1">
            <a:off x="1901952" y="2405786"/>
            <a:ext cx="292608" cy="0"/>
          </a:xfrm>
          <a:prstGeom prst="line">
            <a:avLst/>
          </a:prstGeom>
          <a:ln w="11430">
            <a:solidFill>
              <a:srgbClr val="5F948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3931920" y="3084271"/>
            <a:ext cx="292607" cy="0"/>
          </a:xfrm>
          <a:prstGeom prst="line">
            <a:avLst/>
          </a:prstGeom>
          <a:ln w="11430">
            <a:solidFill>
              <a:srgbClr val="6E7B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H="1">
            <a:off x="5961888" y="1470355"/>
            <a:ext cx="292607" cy="0"/>
          </a:xfrm>
          <a:prstGeom prst="line">
            <a:avLst/>
          </a:prstGeom>
          <a:ln w="12700">
            <a:solidFill>
              <a:srgbClr val="9B707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H="1">
            <a:off x="6108192" y="1215237"/>
            <a:ext cx="146303" cy="0"/>
          </a:xfrm>
          <a:prstGeom prst="line">
            <a:avLst/>
          </a:prstGeom>
          <a:ln w="6350">
            <a:solidFill>
              <a:srgbClr val="9B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H="1">
            <a:off x="6108192" y="1725472"/>
            <a:ext cx="146303" cy="0"/>
          </a:xfrm>
          <a:prstGeom prst="line">
            <a:avLst/>
          </a:prstGeom>
          <a:ln w="6350">
            <a:solidFill>
              <a:srgbClr val="9B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6108192" y="1215237"/>
            <a:ext cx="0" cy="510235"/>
          </a:xfrm>
          <a:prstGeom prst="line">
            <a:avLst/>
          </a:prstGeom>
          <a:ln w="6350">
            <a:solidFill>
              <a:srgbClr val="9B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6108192" y="1470355"/>
            <a:ext cx="146303" cy="0"/>
          </a:xfrm>
          <a:prstGeom prst="line">
            <a:avLst/>
          </a:prstGeom>
          <a:ln w="12700">
            <a:solidFill>
              <a:srgbClr val="9B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7262164" y="3161995"/>
            <a:ext cx="0" cy="1036929"/>
          </a:xfrm>
          <a:prstGeom prst="line">
            <a:avLst/>
          </a:prstGeom>
          <a:ln w="12700">
            <a:solidFill>
              <a:srgbClr val="9B707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H="1">
            <a:off x="7991855" y="2233879"/>
            <a:ext cx="292608" cy="0"/>
          </a:xfrm>
          <a:prstGeom prst="line">
            <a:avLst/>
          </a:prstGeom>
          <a:ln w="11430">
            <a:solidFill>
              <a:srgbClr val="5F8B5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H="1">
            <a:off x="7991855" y="3592677"/>
            <a:ext cx="292608" cy="0"/>
          </a:xfrm>
          <a:prstGeom prst="line">
            <a:avLst/>
          </a:prstGeom>
          <a:ln w="11430">
            <a:solidFill>
              <a:srgbClr val="7A6A9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11322100" y="1631289"/>
            <a:ext cx="0" cy="1036930"/>
          </a:xfrm>
          <a:prstGeom prst="line">
            <a:avLst/>
          </a:prstGeom>
          <a:ln w="12700">
            <a:solidFill>
              <a:srgbClr val="5F8B5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164592" y="6024067"/>
            <a:ext cx="11859768" cy="0"/>
          </a:xfrm>
          <a:prstGeom prst="line">
            <a:avLst/>
          </a:prstGeom>
          <a:ln w="5080">
            <a:solidFill>
              <a:srgbClr val="C9B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TextBox 372"/>
          <p:cNvSpPr txBox="1"/>
          <p:nvPr/>
        </p:nvSpPr>
        <p:spPr>
          <a:xfrm>
            <a:off x="182880" y="6051499"/>
            <a:ext cx="6217920" cy="20116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580" b="0">
                <a:solidFill>
                  <a:srgbClr val="9E9082"/>
                </a:solidFill>
              </a:rPr>
              <a:t>▸ Clave primaria (PK)   ·   ⤷ Clave foránea (FK) indicada en cada campo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182880" y="6243523"/>
            <a:ext cx="11704320" cy="18288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l"/>
            <a:r>
              <a:rPr sz="520" b="0">
                <a:solidFill>
                  <a:srgbClr val="9E9082"/>
                </a:solidFill>
              </a:rPr>
              <a:t>Relaciones adicionales via FK:  empleado_esp→usuarios  ·  puntos_usuario→usuarios  ·  historial→usuarios  ·  resenas→usuarios  ·  notificaciones→usuarios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