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0" y="-731520"/>
            <a:ext cx="3200400" cy="32004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-365760"/>
            <a:ext cx="2468880" cy="2468880"/>
          </a:xfrm>
          <a:prstGeom prst="rect">
            <a:avLst/>
          </a:prstGeom>
          <a:solidFill>
            <a:srgbClr val="D8A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A7B1"/>
                </a:solidFill>
                <a:latin typeface="Calibri"/>
              </a:rPr>
              <a:t>PRESENTACIÓN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PonteGuapa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8A7B1"/>
                </a:solidFill>
                <a:latin typeface="Calibri"/>
              </a:rPr>
              <a:t>Salón de Belleza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52928"/>
            <a:ext cx="3657600" cy="36576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992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8A7B1"/>
                </a:solidFill>
                <a:latin typeface="Calibri"/>
              </a:rPr>
              <a:t>Estructura del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9095"/>
                </a:solidFill>
                <a:latin typeface="Calibri"/>
              </a:rPr>
              <a:t>Cómo está construida la API — Rutas, Métodos y Lógica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5A5F"/>
                </a:solidFill>
                <a:latin typeface="Calibri"/>
              </a:rPr>
              <a:t>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F2A2A"/>
                </a:solidFill>
                <a:latin typeface="Calibri"/>
              </a:rPr>
              <a:t>Estructura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5A5F"/>
                </a:solidFill>
                <a:latin typeface="Calibri"/>
              </a:rPr>
              <a:t>¿Cómo están organizados los archivos?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466344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41248"/>
            <a:ext cx="4480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76E79"/>
                </a:solidFill>
                <a:latin typeface="Courier New"/>
              </a:rPr>
              <a:t>backend/</a:t>
            </a:r>
          </a:p>
          <a:p>
            <a:pPr algn="l"/>
            <a:r>
              <a:rPr sz="850" b="0">
                <a:solidFill>
                  <a:srgbClr val="D8A7B1"/>
                </a:solidFill>
                <a:latin typeface="Courier New"/>
              </a:rPr>
              <a:t>├── server.js</a:t>
            </a:r>
          </a:p>
          <a:p>
            <a:pPr algn="l"/>
            <a:r>
              <a:rPr sz="850" b="0">
                <a:solidFill>
                  <a:srgbClr val="7A7A9A"/>
                </a:solidFill>
                <a:latin typeface="Courier New"/>
              </a:rPr>
              <a:t>│   ← Punto de entrada del servidor</a:t>
            </a:r>
          </a:p>
          <a:p>
            <a:pPr algn="l"/>
            <a:r>
              <a:rPr sz="850" b="1">
                <a:solidFill>
                  <a:srgbClr val="B76E79"/>
                </a:solidFill>
                <a:latin typeface="Courier New"/>
              </a:rPr>
              <a:t>└── src/</a:t>
            </a:r>
          </a:p>
          <a:p>
            <a:pPr algn="l"/>
            <a:r>
              <a:rPr sz="850" b="1">
                <a:solidFill>
                  <a:srgbClr val="D8A7B1"/>
                </a:solidFill>
                <a:latin typeface="Courier New"/>
              </a:rPr>
              <a:t>    ├── config/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Courier New"/>
              </a:rPr>
              <a:t>    │   ├── DBconfig.js</a:t>
            </a:r>
          </a:p>
          <a:p>
            <a:pPr algn="l"/>
            <a:r>
              <a:rPr sz="850" b="0">
                <a:solidFill>
                  <a:srgbClr val="7A7A9A"/>
                </a:solidFill>
                <a:latin typeface="Courier New"/>
              </a:rPr>
              <a:t>    │   │   ← Pool MySQL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Courier New"/>
              </a:rPr>
              <a:t>    │   └── emailServices.js</a:t>
            </a:r>
          </a:p>
          <a:p>
            <a:pPr algn="l"/>
            <a:r>
              <a:rPr sz="850" b="0">
                <a:solidFill>
                  <a:srgbClr val="7A7A9A"/>
                </a:solidFill>
                <a:latin typeface="Courier New"/>
              </a:rPr>
              <a:t>    │       ← Correos automáticos</a:t>
            </a:r>
          </a:p>
          <a:p>
            <a:pPr algn="l"/>
            <a:r>
              <a:rPr sz="850" b="1">
                <a:solidFill>
                  <a:srgbClr val="D8A7B1"/>
                </a:solidFill>
                <a:latin typeface="Courier New"/>
              </a:rPr>
              <a:t>    ├── middleware/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Courier New"/>
              </a:rPr>
              <a:t>    │   └── authMiddleware.js</a:t>
            </a:r>
          </a:p>
          <a:p>
            <a:pPr algn="l"/>
            <a:r>
              <a:rPr sz="850" b="0">
                <a:solidFill>
                  <a:srgbClr val="7A7A9A"/>
                </a:solidFill>
                <a:latin typeface="Courier New"/>
              </a:rPr>
              <a:t>    │       ← protect / adminOnly</a:t>
            </a:r>
          </a:p>
          <a:p>
            <a:pPr algn="l"/>
            <a:r>
              <a:rPr sz="850" b="1">
                <a:solidFill>
                  <a:srgbClr val="D8A7B1"/>
                </a:solidFill>
                <a:latin typeface="Courier New"/>
              </a:rPr>
              <a:t>    ├── controllers/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Courier New"/>
              </a:rPr>
              <a:t>    │   └── authController.js</a:t>
            </a:r>
          </a:p>
          <a:p>
            <a:pPr algn="l"/>
            <a:r>
              <a:rPr sz="850" b="1">
                <a:solidFill>
                  <a:srgbClr val="D8A7B1"/>
                </a:solidFill>
                <a:latin typeface="Courier New"/>
              </a:rPr>
              <a:t>    └── routes/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Courier New"/>
              </a:rPr>
              <a:t>        ├── authRoutes.js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Courier New"/>
              </a:rPr>
              <a:t>        ├── Usuarios.js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Courier New"/>
              </a:rPr>
              <a:t>        ├── servicios.js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Courier New"/>
              </a:rPr>
              <a:t>        ├── citas.js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Courier New"/>
              </a:rPr>
              <a:t>        ├── horarios.js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Courier New"/>
              </a:rPr>
              <a:t>        ├── promociones.js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Courier New"/>
              </a:rPr>
              <a:t>        ├── recompensas.js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Courier New"/>
              </a:rPr>
              <a:t>        ├── notificaciones.js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Courier New"/>
              </a:rPr>
              <a:t>        └── notificaciones-estilista.js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777240"/>
            <a:ext cx="54864" cy="530352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9784" y="777240"/>
            <a:ext cx="3749039" cy="53035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0368" y="8138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2A2A"/>
                </a:solidFill>
                <a:latin typeface="Calibri"/>
              </a:rPr>
              <a:t>server.js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1014983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5A5F"/>
                </a:solidFill>
                <a:latin typeface="Calibri"/>
              </a:rPr>
              <a:t>Punto de entrada. Registra todas las rutas en Express y arranca el servidor.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1463040"/>
            <a:ext cx="54864" cy="5303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9784" y="1463040"/>
            <a:ext cx="3749039" cy="53035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14996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2A2A"/>
                </a:solidFill>
                <a:latin typeface="Calibri"/>
              </a:rPr>
              <a:t>config/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700784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5A5F"/>
                </a:solidFill>
                <a:latin typeface="Calibri"/>
              </a:rPr>
              <a:t>Pool de conexiones MySQL y plantillas de correo en HTML.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148840"/>
            <a:ext cx="54864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9784" y="2148840"/>
            <a:ext cx="3749039" cy="53035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2185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2A2A"/>
                </a:solidFill>
                <a:latin typeface="Calibri"/>
              </a:rPr>
              <a:t>middleware/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86584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5A5F"/>
                </a:solidFill>
                <a:latin typeface="Calibri"/>
              </a:rPr>
              <a:t>Filtros de seguridad. Verifican el token antes de ejecutar cualquier ruta.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834640"/>
            <a:ext cx="54864" cy="530352"/>
          </a:xfrm>
          <a:prstGeom prst="rect">
            <a:avLst/>
          </a:prstGeom>
          <a:solidFill>
            <a:srgbClr val="16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9784" y="2834640"/>
            <a:ext cx="3749039" cy="53035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8" y="28712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2A2A"/>
                </a:solidFill>
                <a:latin typeface="Calibri"/>
              </a:rPr>
              <a:t>controllers/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072384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5A5F"/>
                </a:solidFill>
                <a:latin typeface="Calibri"/>
              </a:rPr>
              <a:t>Lógica de autenticación: registro, login y recuperación de contraseña.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3520440"/>
            <a:ext cx="54864" cy="530352"/>
          </a:xfrm>
          <a:prstGeom prst="rect">
            <a:avLst/>
          </a:prstGeom>
          <a:solidFill>
            <a:srgbClr val="C26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9784" y="3520440"/>
            <a:ext cx="3749039" cy="53035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0368" y="35570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2A2A"/>
                </a:solidFill>
                <a:latin typeface="Calibri"/>
              </a:rPr>
              <a:t>routes/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758184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5A5F"/>
                </a:solidFill>
                <a:latin typeface="Calibri"/>
              </a:rPr>
              <a:t>9 archivos, uno por módulo. Cada archivo agrupa los endpoints de esa área.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F2A2A"/>
                </a:solidFill>
                <a:latin typeface="Calibri"/>
              </a:rPr>
              <a:t>Sistema de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5A5F"/>
                </a:solidFill>
                <a:latin typeface="Calibri"/>
              </a:rPr>
              <a:t>Cómo el servidor verifica quién puede hacer qué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046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F2A2A"/>
                </a:solidFill>
                <a:latin typeface="Calibri"/>
              </a:rPr>
              <a:t>Cada petición pasa por filtros antes de llegar al controlador: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920240" cy="685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261872"/>
            <a:ext cx="1792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2A2A"/>
                </a:solidFill>
                <a:latin typeface="Calibri"/>
              </a:rPr>
              <a:t>Cliente
envía petición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1136" y="1426464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5A5F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79" y="1188720"/>
            <a:ext cx="1920240" cy="6858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7" y="1261872"/>
            <a:ext cx="1792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protect()
Verifica JWT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1426464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5A5F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188720"/>
            <a:ext cx="1920240" cy="685800"/>
          </a:xfrm>
          <a:prstGeom prst="rect">
            <a:avLst/>
          </a:prstGeom>
          <a:solidFill>
            <a:srgbClr val="8A3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261872"/>
            <a:ext cx="1792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adminOnly() o
estilistaOnly()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1426464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5A5F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7999" y="1188720"/>
            <a:ext cx="1920240" cy="685800"/>
          </a:xfrm>
          <a:prstGeom prst="rect">
            <a:avLst/>
          </a:prstGeom>
          <a:solidFill>
            <a:srgbClr val="16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7" y="1261872"/>
            <a:ext cx="1792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Controlador
ejecutado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011680"/>
            <a:ext cx="2743200" cy="347472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2057400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protect()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359152"/>
            <a:ext cx="2743200" cy="2606040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240487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A5A5F"/>
                </a:solidFill>
                <a:latin typeface="Calibri"/>
              </a:rPr>
              <a:t>Se aplica a TODAS las rutas privadas.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2724912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2A2A"/>
                </a:solidFill>
                <a:latin typeface="Calibri"/>
              </a:rPr>
              <a:t>• Lee el header: Authorization: Bearer &lt;token&gt;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" y="3054096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2A2A"/>
                </a:solidFill>
                <a:latin typeface="Calibri"/>
              </a:rPr>
              <a:t>• Verifica el token con jwt.verify()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3383280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2A2A"/>
                </a:solidFill>
                <a:latin typeface="Calibri"/>
              </a:rPr>
              <a:t>• Si es inválido o expiró → responde 401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3712464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2A2A"/>
                </a:solidFill>
                <a:latin typeface="Calibri"/>
              </a:rPr>
              <a:t>• Si es válido → consulta el usuario en la BD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4041648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2A2A"/>
                </a:solidFill>
                <a:latin typeface="Calibri"/>
              </a:rPr>
              <a:t>• Asigna el usuario a req.user y continúa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2011680"/>
            <a:ext cx="2743200" cy="347472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2057400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adminOnly()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2359152"/>
            <a:ext cx="2743200" cy="2606040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240487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A5A5F"/>
                </a:solidFill>
                <a:latin typeface="Calibri"/>
              </a:rPr>
              <a:t>Solo para rutas de administrador.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2724912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2A2A"/>
                </a:solidFill>
                <a:latin typeface="Calibri"/>
              </a:rPr>
              <a:t>• Verifica que req.user.rol === 'admin'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3054096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2A2A"/>
                </a:solidFill>
                <a:latin typeface="Calibri"/>
              </a:rPr>
              <a:t>• Si no es admin → responde 403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128" y="3383280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2A2A"/>
                </a:solidFill>
                <a:latin typeface="Calibri"/>
              </a:rPr>
              <a:t>• Aplica a: usuarios, servicios, horarios,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3712464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2A2A"/>
                </a:solidFill>
                <a:latin typeface="Calibri"/>
              </a:rPr>
              <a:t>  promociones, notificaciones, recompensas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2011680"/>
            <a:ext cx="2743200" cy="34747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2057400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estilistaOnly()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359152"/>
            <a:ext cx="2743200" cy="2606040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240487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A5A5F"/>
                </a:solidFill>
                <a:latin typeface="Calibri"/>
              </a:rPr>
              <a:t>Para estilistas y administradores.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724912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2A2A"/>
                </a:solidFill>
                <a:latin typeface="Calibri"/>
              </a:rPr>
              <a:t>• Permite rol 'estilista' O 'admin'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1928" y="3054096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2A2A"/>
                </a:solidFill>
                <a:latin typeface="Calibri"/>
              </a:rPr>
              <a:t>• Si no cumple → responde 403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3383280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2A2A"/>
                </a:solidFill>
                <a:latin typeface="Calibri"/>
              </a:rPr>
              <a:t>• Aplica a: cambiar estado de citas,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1928" y="3712464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2A2A"/>
                </a:solidFill>
                <a:latin typeface="Calibri"/>
              </a:rPr>
              <a:t>  ver citas propias, notif-estilista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" y="0"/>
            <a:ext cx="9089136" cy="71323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F2A2A"/>
                </a:solidFill>
                <a:latin typeface="Calibri"/>
              </a:rPr>
              <a:t>Autenticación — Registro, Login y Recuperación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438912"/>
            <a:ext cx="1014983" cy="219456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457200"/>
            <a:ext cx="9235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ourier New"/>
              </a:rPr>
              <a:t>/api/auth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777240"/>
          <a:ext cx="86868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468880"/>
                <a:gridCol w="5623560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Ruta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¿Para qué sirve?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D4ED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/api/auth/registro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Crea una nueva cuenta de cliente. Valida dominio del email, hashea la contraseña con bcrypt y envía correo de bienvenida.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D4ED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/api/auth/login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Autentica al usuario. Verifica contraseña con bcrypt y devuelve token JWT válido por 7 días.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D4ED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/api/auth/recuperar-password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Genera contraseña temporal (PonteGuapa#XXXX), la guarda hasheada y la envía por email.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/api/auth/perfil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Devuelve los datos del usuario que tiene la sesión activa (requiere token).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" y="0"/>
            <a:ext cx="9089136" cy="71323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F2A2A"/>
                </a:solidFill>
                <a:latin typeface="Calibri"/>
              </a:rPr>
              <a:t>Gestión de Usuarios y Empleados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438912"/>
            <a:ext cx="1344168" cy="219456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457200"/>
            <a:ext cx="1252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ourier New"/>
              </a:rPr>
              <a:t>/api/usuarios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777240"/>
          <a:ext cx="86868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468880"/>
                <a:gridCol w="5623560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Ruta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¿Para qué sirve?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/api/usuarios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Lista todos los empleados (admin y estilistas). Solo el administrador puede verlos.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/api/usuarios/:id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Devuelve el perfil de un usuario. Cada usuario puede ver el suyo; el admin puede ver cualquiera.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D4ED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/api/usuarios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Crea un nuevo empleado (estilista u admin). Hashea la contraseña y activa requiere_cambio=1.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2610C"/>
                          </a:solidFill>
                          <a:latin typeface="Calibri"/>
                        </a:rPr>
                        <a:t>PUT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/api/usuarios/:id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Actualiza todos los datos de un empleado. Protege al último admin activo: no permite cambiar su rol.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5B21B6"/>
                          </a:solidFill>
                          <a:latin typeface="Calibri"/>
                        </a:rPr>
                        <a:t>PATCH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/api/usuarios/:id/perfil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Actualiza nombre, teléfono y fecha de nacimiento. El email NO se puede cambiar por este endpoint.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5B21B6"/>
                          </a:solidFill>
                          <a:latin typeface="Calibri"/>
                        </a:rPr>
                        <a:t>PATCH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/api/usuarios/:id/cambiar-password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Cambia la contraseña (mínimo 6 caracteres). Pone requiere_cambio=0 al terminar.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9B1C1C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/api/usuarios/:id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Elimina el usuario permanentemente (hard delete). El email queda libre para nuevo registro.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" y="0"/>
            <a:ext cx="9089136" cy="71323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F2A2A"/>
                </a:solidFill>
                <a:latin typeface="Calibri"/>
              </a:rPr>
              <a:t>Sistema de Citas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438912"/>
            <a:ext cx="1097280" cy="219456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457200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ourier New"/>
              </a:rPr>
              <a:t>/api/citas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777240"/>
          <a:ext cx="8686800" cy="222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697480"/>
                <a:gridCol w="5394960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Ruta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¿Para qué sirve?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/api/citas/estilistas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Lista todos los estilistas activos. Ruta pública, sin filtro de fecha.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/api/citas/estilistas-disponibles?fecha=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Estilistas que trabajan el día de la semana de la fecha dada (filtra por horario asignado).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/api/citas/mis-citas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Todas las citas del cliente autenticado: servicio, estilista, precio y estado.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/api/citas/mis-citas-estilista?fecha=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Citas del estilista autenticado para una fecha (default: hoy). Incluye datos del cliente.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/api/citas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Todas las citas del sistema. Solo admin. Filtros opcionales: ?fecha, ?estado, ?estilista_id.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D4ED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/api/citas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Crea cita: verifica conflicto de horario, inserta, envía email de confirmación y notifica al estilista.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5B21B6"/>
                          </a:solidFill>
                          <a:latin typeface="Calibri"/>
                        </a:rPr>
                        <a:t>PATCH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/api/citas/:id/estado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Cambia estado: pendiente | confirmada | completada | cancelada. Notifica al estilista si se confirma.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9B1C1C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/api/citas/:id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Cancela la cita. El cliente solo cancela las suyas; el admin puede cancelar cualquiera.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" y="0"/>
            <a:ext cx="9089136" cy="502920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A5A5F"/>
                </a:solidFill>
                <a:latin typeface="Calibri"/>
              </a:rPr>
              <a:t>PonteGuapa — Rutas del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566928"/>
            <a:ext cx="4251960" cy="27432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58521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Servicios  /api/servicios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877824"/>
          <a:ext cx="42519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1691640"/>
                <a:gridCol w="1993392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Ruta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¿Para qué sirve?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/api/servicios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Lista todos los servicios (activos e inactivos). Público.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D4ED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/api/servicios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Crea un servicio: nombre, precio, duración, categoría.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2610C"/>
                          </a:solidFill>
                          <a:latin typeface="Calibri"/>
                        </a:rPr>
                        <a:t>PUT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/api/servicios/:id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Actualiza todos los campos, incluyendo activo (0/1).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9B1C1C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/api/servicios/:id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Elimina el servicio permanentemente (hard delete).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81144" y="566928"/>
            <a:ext cx="4251960" cy="274320"/>
          </a:xfrm>
          <a:prstGeom prst="rect">
            <a:avLst/>
          </a:prstGeom>
          <a:solidFill>
            <a:srgbClr val="8A3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58521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Horarios  /api/horarios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81144" y="877824"/>
          <a:ext cx="42519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1691640"/>
                <a:gridCol w="1993392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Ruta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¿Para qué sirve?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/api/horarios/mi-horario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Horario semanal del empleado autenticado.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/api/horarios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Todos los horarios agrupados por empleado (admin).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D4ED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/api/horarios/save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Guarda/actualiza el horario de un empleado (transacción).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9B1C1C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/api/horarios/:id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Elimina todos los horarios de un empleado.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" y="0"/>
            <a:ext cx="9089136" cy="502920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A5A5F"/>
                </a:solidFill>
                <a:latin typeface="Calibri"/>
              </a:rPr>
              <a:t>PonteGuapa — Rutas del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566928"/>
            <a:ext cx="4251960" cy="27432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58521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Promociones  /api/promociones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877824"/>
          <a:ext cx="42519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1691640"/>
                <a:gridCol w="1993392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Ruta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¿Para qué sirve?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/api/promociones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Lista todas las promociones. Público.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D4ED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/api/promociones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Crea promoción con código único, descuento y fechas.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2610C"/>
                          </a:solidFill>
                          <a:latin typeface="Calibri"/>
                        </a:rPr>
                        <a:t>PUT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/api/promociones/:id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Actualiza promoción (incluyendo activar/desactivar).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9B1C1C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/api/promociones/:id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Elimina la promoción permanentemente.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81144" y="566928"/>
            <a:ext cx="4251960" cy="274320"/>
          </a:xfrm>
          <a:prstGeom prst="rect">
            <a:avLst/>
          </a:prstGeom>
          <a:solidFill>
            <a:srgbClr val="8A3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58521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Recompensas  /api/recompensas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81144" y="877824"/>
          <a:ext cx="425196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1691640"/>
                <a:gridCol w="1993392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Ruta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¿Para qué sirve?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/api/recompensas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Catálogo de recompensas. Público.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/api/recompensas/mis-puntos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Puntos del cliente autenticado.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D4ED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/api/recompensas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Crea una recompensa (nombre, puntos requeridos).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2610C"/>
                          </a:solidFill>
                          <a:latin typeface="Calibri"/>
                        </a:rPr>
                        <a:t>PUT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/api/recompensas/admin/puntos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Agrega o quita puntos a un cliente.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2610C"/>
                          </a:solidFill>
                          <a:latin typeface="Calibri"/>
                        </a:rPr>
                        <a:t>PUT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/api/recompensas/:id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Actualiza recompensa (activo, nombre, puntos).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9B1C1C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/api/recompensas/:id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Elimina la recompensa permanentemente.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" y="0"/>
            <a:ext cx="9089136" cy="502920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A5A5F"/>
                </a:solidFill>
                <a:latin typeface="Calibri"/>
              </a:rPr>
              <a:t>PonteGuapa — Rutas del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566928"/>
            <a:ext cx="4251960" cy="27432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58521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Notif. Admin  /api/notificaciones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877824"/>
          <a:ext cx="425196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1920240"/>
                <a:gridCol w="1764792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Ruta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¿Para qué sirve?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.../total-clientes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Total de clientes activos.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.../lista-clientes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Lista de clientes para selector.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.../historial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Últimas 20 notificaciones enviadas.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D4ED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.../enviar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Envía correo a todos, con cita hoy, o uno específico.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9B1C1C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.../historial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Limpia todo el historial de envíos.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81144" y="566928"/>
            <a:ext cx="4251960" cy="274320"/>
          </a:xfrm>
          <a:prstGeom prst="rect">
            <a:avLst/>
          </a:prstGeom>
          <a:solidFill>
            <a:srgbClr val="8A3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58521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Notif. Estilista  /api/notif-estilista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81144" y="877824"/>
          <a:ext cx="425196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1508760"/>
                <a:gridCol w="2176272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Ruta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¿Para qué sirve?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.../mis-notificaciones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Todas las notif. del estilista autenticado.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66D3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.../sin-leer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Conteo sin leer para el badge del navbar.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5B21B6"/>
                          </a:solidFill>
                          <a:latin typeface="Calibri"/>
                        </a:rPr>
                        <a:t>PATCH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.../marcar-todas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Marca todas como leídas.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9B1C1C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.../borrar-todas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Elimina todas las notificaciones.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5B21B6"/>
                          </a:solidFill>
                          <a:latin typeface="Calibri"/>
                        </a:rPr>
                        <a:t>PATCH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.../:id/leer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Marca una notificación como leída.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9B1C1C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ourier New"/>
                        </a:rPr>
                        <a:t>.../:id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F2A2A"/>
                          </a:solidFill>
                          <a:latin typeface="Calibri"/>
                        </a:rPr>
                        <a:t>Elimina una notificación específica.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" y="0"/>
            <a:ext cx="9089136" cy="594360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F2A2A"/>
                </a:solidFill>
                <a:latin typeface="Calibri"/>
              </a:rPr>
              <a:t>Resumen — Todos los Módulos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2062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5A5F"/>
                </a:solidFill>
                <a:latin typeface="Calibri"/>
              </a:rPr>
              <a:t>Vista completa de rutas por acceso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685800"/>
          <a:ext cx="868680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91640"/>
                <a:gridCol w="1600200"/>
                <a:gridCol w="3931920"/>
              </a:tblGrid>
              <a:tr h="396849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Módulo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Métodos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Acceso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>
                    <a:solidFill>
                      <a:srgbClr val="B76E79"/>
                    </a:solidFill>
                  </a:tcPr>
                </a:tc>
              </a:tr>
              <a:tr h="396849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B76E79"/>
                          </a:solidFill>
                          <a:latin typeface="Courier New"/>
                        </a:rPr>
                        <a:t>/api/auth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POST POST POST GET</a:t>
                      </a:r>
                    </a:p>
                  </a:txBody>
                  <a:tcPr>
                    <a:solidFill>
                      <a:srgbClr val="F0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7A5A5F"/>
                          </a:solidFill>
                          <a:latin typeface="Calibri"/>
                        </a:rPr>
                        <a:t>Público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Registro, login, recuperación de contraseña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849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B76E79"/>
                          </a:solidFill>
                          <a:latin typeface="Courier New"/>
                        </a:rPr>
                        <a:t>/api/usuarios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GET GET POST PUT PATCH PATCH 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7A5A5F"/>
                          </a:solidFill>
                          <a:latin typeface="Calibri"/>
                        </a:rPr>
                        <a:t>Admin / Autenticado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Gestión completa de empleados y perfiles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849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B76E79"/>
                          </a:solidFill>
                          <a:latin typeface="Courier New"/>
                        </a:rPr>
                        <a:t>/api/servicios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GET POST PUT DELETE</a:t>
                      </a:r>
                    </a:p>
                  </a:txBody>
                  <a:tcPr>
                    <a:solidFill>
                      <a:srgbClr val="F0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7A5A5F"/>
                          </a:solidFill>
                          <a:latin typeface="Calibri"/>
                        </a:rPr>
                        <a:t>GET Público, resto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Catálogo de servicios del salón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849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B76E79"/>
                          </a:solidFill>
                          <a:latin typeface="Courier New"/>
                        </a:rPr>
                        <a:t>/api/citas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GET×5 POST PATCH 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7A5A5F"/>
                          </a:solidFill>
                          <a:latin typeface="Calibri"/>
                        </a:rPr>
                        <a:t>Mixto por ruta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Ciclo completo de reserva y gestión de citas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849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B76E79"/>
                          </a:solidFill>
                          <a:latin typeface="Courier New"/>
                        </a:rPr>
                        <a:t>/api/horarios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GET×2 POST DELETE</a:t>
                      </a:r>
                    </a:p>
                  </a:txBody>
                  <a:tcPr>
                    <a:solidFill>
                      <a:srgbClr val="F0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7A5A5F"/>
                          </a:solidFill>
                          <a:latin typeface="Calibri"/>
                        </a:rPr>
                        <a:t>GET Autenticado, resto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Horarios semanales del personal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849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B76E79"/>
                          </a:solidFill>
                          <a:latin typeface="Courier New"/>
                        </a:rPr>
                        <a:t>/api/promociones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GET POST PUT 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7A5A5F"/>
                          </a:solidFill>
                          <a:latin typeface="Calibri"/>
                        </a:rPr>
                        <a:t>GET Público, resto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Cupones y descuentos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849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B76E79"/>
                          </a:solidFill>
                          <a:latin typeface="Courier New"/>
                        </a:rPr>
                        <a:t>/api/recompensas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GET×2 POST PUT×2 DELETE</a:t>
                      </a:r>
                    </a:p>
                  </a:txBody>
                  <a:tcPr>
                    <a:solidFill>
                      <a:srgbClr val="F0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7A5A5F"/>
                          </a:solidFill>
                          <a:latin typeface="Calibri"/>
                        </a:rPr>
                        <a:t>GET Público, resto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Puntos y premios para clientes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849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B76E79"/>
                          </a:solidFill>
                          <a:latin typeface="Courier New"/>
                        </a:rPr>
                        <a:t>/api/notificaciones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GET×3 POST 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7A5A5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Envío de correos masivos o individuales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855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B76E79"/>
                          </a:solidFill>
                          <a:latin typeface="Courier New"/>
                        </a:rPr>
                        <a:t>/api/notif-estilista</a:t>
                      </a:r>
                    </a:p>
                  </a:txBody>
                  <a:tcPr>
                    <a:solidFill>
                      <a:srgbClr val="F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GET×2 PATCH×2 DELETE×2</a:t>
                      </a:r>
                    </a:p>
                  </a:txBody>
                  <a:tcPr>
                    <a:solidFill>
                      <a:srgbClr val="F0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7A5A5F"/>
                          </a:solidFill>
                          <a:latin typeface="Calibri"/>
                        </a:rPr>
                        <a:t>Estilista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F2A2A"/>
                          </a:solidFill>
                          <a:latin typeface="Calibri"/>
                        </a:rPr>
                        <a:t>Notificaciones en tiempo real del estilista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1371600"/>
            <a:ext cx="2560320" cy="2560320"/>
          </a:xfrm>
          <a:prstGeom prst="rect">
            <a:avLst/>
          </a:prstGeom>
          <a:solidFill>
            <a:srgbClr val="3F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78040" y="1691640"/>
            <a:ext cx="1828800" cy="18288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214884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PonteGuapa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3200400" cy="36576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A7B1"/>
                </a:solidFill>
                <a:latin typeface="Calibri"/>
              </a:rPr>
              <a:t>Backend construido con: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2286000" cy="347472"/>
          </a:xfrm>
          <a:prstGeom prst="rect">
            <a:avLst/>
          </a:prstGeom>
          <a:solidFill>
            <a:srgbClr val="3F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45720" cy="347472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578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Node.js + Express.js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514600"/>
            <a:ext cx="2286000" cy="347472"/>
          </a:xfrm>
          <a:prstGeom prst="rect">
            <a:avLst/>
          </a:prstGeom>
          <a:solidFill>
            <a:srgbClr val="3F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17520" y="2514600"/>
            <a:ext cx="45720" cy="347472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8" y="2578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MySQL + Pool de conexiones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2514600"/>
            <a:ext cx="2286000" cy="347472"/>
          </a:xfrm>
          <a:prstGeom prst="rect">
            <a:avLst/>
          </a:prstGeom>
          <a:solidFill>
            <a:srgbClr val="3F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2514600"/>
            <a:ext cx="45720" cy="347472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6128" y="2578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JWT + bcryptjs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71800"/>
            <a:ext cx="2286000" cy="347472"/>
          </a:xfrm>
          <a:prstGeom prst="rect">
            <a:avLst/>
          </a:prstGeom>
          <a:solidFill>
            <a:srgbClr val="3F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71800"/>
            <a:ext cx="45720" cy="347472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0358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Nodemailer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971800"/>
            <a:ext cx="2286000" cy="347472"/>
          </a:xfrm>
          <a:prstGeom prst="rect">
            <a:avLst/>
          </a:prstGeom>
          <a:solidFill>
            <a:srgbClr val="3F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0" y="2971800"/>
            <a:ext cx="45720" cy="347472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30358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Angular 17 (Frontend)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5A5F"/>
                </a:solidFill>
                <a:latin typeface="Calibri"/>
              </a:rPr>
              <a:t>© 2026 PonteGuapa — Todos los derechos reservados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